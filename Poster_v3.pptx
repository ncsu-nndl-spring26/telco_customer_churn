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55" r:id="rId4"/>
  </p:sldMasterIdLst>
  <p:notesMasterIdLst>
    <p:notesMasterId r:id="rId6"/>
  </p:notesMasterIdLst>
  <p:sldIdLst>
    <p:sldId id="256" r:id="rId5"/>
  </p:sldIdLst>
  <p:sldSz cx="43891200" cy="32918400"/>
  <p:notesSz cx="9144000" cy="6858000"/>
  <p:defaultTextStyle>
    <a:defPPr>
      <a:defRPr lang="en-US"/>
    </a:defPPr>
    <a:lvl1pPr marL="0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1pPr>
    <a:lvl2pPr marL="2194514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2pPr>
    <a:lvl3pPr marL="4389028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3pPr>
    <a:lvl4pPr marL="6583543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4pPr>
    <a:lvl5pPr marL="8778057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5pPr>
    <a:lvl6pPr marL="10972571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6pPr>
    <a:lvl7pPr marL="13167085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7pPr>
    <a:lvl8pPr marL="15361599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8pPr>
    <a:lvl9pPr marL="17556115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74"/>
  </p:normalViewPr>
  <p:slideViewPr>
    <p:cSldViewPr snapToGrid="0" snapToObjects="1">
      <p:cViewPr>
        <p:scale>
          <a:sx n="50" d="100"/>
          <a:sy n="50" d="100"/>
        </p:scale>
        <p:origin x="36" y="-2394"/>
      </p:cViewPr>
      <p:guideLst>
        <p:guide orient="horz" pos="10368"/>
        <p:guide pos="1382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7263C8-1F4A-D143-B9CC-F49476357AC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1B56C-B07E-3E41-B87D-461E056AF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2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1pPr>
    <a:lvl2pPr marL="2194514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2pPr>
    <a:lvl3pPr marL="4389028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3pPr>
    <a:lvl4pPr marL="6583543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4pPr>
    <a:lvl5pPr marL="8778057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5pPr>
    <a:lvl6pPr marL="10972571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6pPr>
    <a:lvl7pPr marL="13167085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7pPr>
    <a:lvl8pPr marL="15361599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8pPr>
    <a:lvl9pPr marL="17556115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31B56C-B07E-3E41-B87D-461E056AF0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13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2"/>
            <a:ext cx="37307520" cy="7056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0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5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0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0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1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2835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0382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21153122"/>
            <a:ext cx="3730752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13952226"/>
            <a:ext cx="37307520" cy="7200898"/>
          </a:xfrm>
        </p:spPr>
        <p:txBody>
          <a:bodyPr anchor="b"/>
          <a:lstStyle>
            <a:lvl1pPr marL="0" indent="0">
              <a:buNone/>
              <a:defRPr sz="9700">
                <a:solidFill>
                  <a:schemeClr val="tx1">
                    <a:tint val="75000"/>
                  </a:schemeClr>
                </a:solidFill>
              </a:defRPr>
            </a:lvl1pPr>
            <a:lvl2pPr marL="2194514" indent="0">
              <a:buNone/>
              <a:defRPr sz="8700">
                <a:solidFill>
                  <a:schemeClr val="tx1">
                    <a:tint val="75000"/>
                  </a:schemeClr>
                </a:solidFill>
              </a:defRPr>
            </a:lvl2pPr>
            <a:lvl3pPr marL="4389028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543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057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571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085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599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115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2394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560" y="7680964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7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1360" y="7680964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7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059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2" y="7368543"/>
            <a:ext cx="19392903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14" indent="0">
              <a:buNone/>
              <a:defRPr sz="9700" b="1"/>
            </a:lvl2pPr>
            <a:lvl3pPr marL="4389028" indent="0">
              <a:buNone/>
              <a:defRPr sz="8700" b="1"/>
            </a:lvl3pPr>
            <a:lvl4pPr marL="6583543" indent="0">
              <a:buNone/>
              <a:defRPr sz="7700" b="1"/>
            </a:lvl4pPr>
            <a:lvl5pPr marL="8778057" indent="0">
              <a:buNone/>
              <a:defRPr sz="7700" b="1"/>
            </a:lvl5pPr>
            <a:lvl6pPr marL="10972571" indent="0">
              <a:buNone/>
              <a:defRPr sz="7700" b="1"/>
            </a:lvl6pPr>
            <a:lvl7pPr marL="13167085" indent="0">
              <a:buNone/>
              <a:defRPr sz="7700" b="1"/>
            </a:lvl7pPr>
            <a:lvl8pPr marL="15361599" indent="0">
              <a:buNone/>
              <a:defRPr sz="7700" b="1"/>
            </a:lvl8pPr>
            <a:lvl9pPr marL="17556115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2" y="10439401"/>
            <a:ext cx="19392903" cy="18966182"/>
          </a:xfrm>
        </p:spPr>
        <p:txBody>
          <a:bodyPr/>
          <a:lstStyle>
            <a:lvl1pPr>
              <a:defRPr sz="11500"/>
            </a:lvl1pPr>
            <a:lvl2pPr>
              <a:defRPr sz="9700"/>
            </a:lvl2pPr>
            <a:lvl3pPr>
              <a:defRPr sz="87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3" y="7368543"/>
            <a:ext cx="19400520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14" indent="0">
              <a:buNone/>
              <a:defRPr sz="9700" b="1"/>
            </a:lvl2pPr>
            <a:lvl3pPr marL="4389028" indent="0">
              <a:buNone/>
              <a:defRPr sz="8700" b="1"/>
            </a:lvl3pPr>
            <a:lvl4pPr marL="6583543" indent="0">
              <a:buNone/>
              <a:defRPr sz="7700" b="1"/>
            </a:lvl4pPr>
            <a:lvl5pPr marL="8778057" indent="0">
              <a:buNone/>
              <a:defRPr sz="7700" b="1"/>
            </a:lvl5pPr>
            <a:lvl6pPr marL="10972571" indent="0">
              <a:buNone/>
              <a:defRPr sz="7700" b="1"/>
            </a:lvl6pPr>
            <a:lvl7pPr marL="13167085" indent="0">
              <a:buNone/>
              <a:defRPr sz="7700" b="1"/>
            </a:lvl7pPr>
            <a:lvl8pPr marL="15361599" indent="0">
              <a:buNone/>
              <a:defRPr sz="7700" b="1"/>
            </a:lvl8pPr>
            <a:lvl9pPr marL="17556115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3" y="10439401"/>
            <a:ext cx="19400520" cy="18966182"/>
          </a:xfrm>
        </p:spPr>
        <p:txBody>
          <a:bodyPr/>
          <a:lstStyle>
            <a:lvl1pPr>
              <a:defRPr sz="11500"/>
            </a:lvl1pPr>
            <a:lvl2pPr>
              <a:defRPr sz="9700"/>
            </a:lvl2pPr>
            <a:lvl3pPr>
              <a:defRPr sz="87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6824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84712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922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1310640"/>
            <a:ext cx="14439903" cy="5577840"/>
          </a:xfrm>
        </p:spPr>
        <p:txBody>
          <a:bodyPr anchor="b"/>
          <a:lstStyle>
            <a:lvl1pPr algn="l">
              <a:defRPr sz="9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4"/>
            <a:ext cx="24536400" cy="28094942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700"/>
            </a:lvl4pPr>
            <a:lvl5pPr>
              <a:defRPr sz="9700"/>
            </a:lvl5pPr>
            <a:lvl6pPr>
              <a:defRPr sz="9700"/>
            </a:lvl6pPr>
            <a:lvl7pPr>
              <a:defRPr sz="9700"/>
            </a:lvl7pPr>
            <a:lvl8pPr>
              <a:defRPr sz="9700"/>
            </a:lvl8pPr>
            <a:lvl9pPr>
              <a:defRPr sz="9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6888484"/>
            <a:ext cx="14439903" cy="22517102"/>
          </a:xfrm>
        </p:spPr>
        <p:txBody>
          <a:bodyPr/>
          <a:lstStyle>
            <a:lvl1pPr marL="0" indent="0">
              <a:buNone/>
              <a:defRPr sz="6700"/>
            </a:lvl1pPr>
            <a:lvl2pPr marL="2194514" indent="0">
              <a:buNone/>
              <a:defRPr sz="5700"/>
            </a:lvl2pPr>
            <a:lvl3pPr marL="4389028" indent="0">
              <a:buNone/>
              <a:defRPr sz="4800"/>
            </a:lvl3pPr>
            <a:lvl4pPr marL="6583543" indent="0">
              <a:buNone/>
              <a:defRPr sz="4300"/>
            </a:lvl4pPr>
            <a:lvl5pPr marL="8778057" indent="0">
              <a:buNone/>
              <a:defRPr sz="4300"/>
            </a:lvl5pPr>
            <a:lvl6pPr marL="10972571" indent="0">
              <a:buNone/>
              <a:defRPr sz="4300"/>
            </a:lvl6pPr>
            <a:lvl7pPr marL="13167085" indent="0">
              <a:buNone/>
              <a:defRPr sz="4300"/>
            </a:lvl7pPr>
            <a:lvl8pPr marL="15361599" indent="0">
              <a:buNone/>
              <a:defRPr sz="4300"/>
            </a:lvl8pPr>
            <a:lvl9pPr marL="17556115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822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3" y="23042881"/>
            <a:ext cx="26334720" cy="2720342"/>
          </a:xfrm>
        </p:spPr>
        <p:txBody>
          <a:bodyPr anchor="b"/>
          <a:lstStyle>
            <a:lvl1pPr algn="l">
              <a:defRPr sz="9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3" y="4288280"/>
            <a:ext cx="26334720" cy="17955490"/>
          </a:xfrm>
        </p:spPr>
        <p:txBody>
          <a:bodyPr/>
          <a:lstStyle>
            <a:lvl1pPr marL="0" indent="0">
              <a:buNone/>
              <a:defRPr sz="15400"/>
            </a:lvl1pPr>
            <a:lvl2pPr marL="2194514" indent="0">
              <a:buNone/>
              <a:defRPr sz="13400"/>
            </a:lvl2pPr>
            <a:lvl3pPr marL="4389028" indent="0">
              <a:buNone/>
              <a:defRPr sz="11500"/>
            </a:lvl3pPr>
            <a:lvl4pPr marL="6583543" indent="0">
              <a:buNone/>
              <a:defRPr sz="9700"/>
            </a:lvl4pPr>
            <a:lvl5pPr marL="8778057" indent="0">
              <a:buNone/>
              <a:defRPr sz="9700"/>
            </a:lvl5pPr>
            <a:lvl6pPr marL="10972571" indent="0">
              <a:buNone/>
              <a:defRPr sz="9700"/>
            </a:lvl6pPr>
            <a:lvl7pPr marL="13167085" indent="0">
              <a:buNone/>
              <a:defRPr sz="9700"/>
            </a:lvl7pPr>
            <a:lvl8pPr marL="15361599" indent="0">
              <a:buNone/>
              <a:defRPr sz="9700"/>
            </a:lvl8pPr>
            <a:lvl9pPr marL="17556115" indent="0">
              <a:buNone/>
              <a:defRPr sz="97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3" y="25763223"/>
            <a:ext cx="26334720" cy="3863338"/>
          </a:xfrm>
        </p:spPr>
        <p:txBody>
          <a:bodyPr/>
          <a:lstStyle>
            <a:lvl1pPr marL="0" indent="0">
              <a:buNone/>
              <a:defRPr sz="6700"/>
            </a:lvl1pPr>
            <a:lvl2pPr marL="2194514" indent="0">
              <a:buNone/>
              <a:defRPr sz="5700"/>
            </a:lvl2pPr>
            <a:lvl3pPr marL="4389028" indent="0">
              <a:buNone/>
              <a:defRPr sz="4800"/>
            </a:lvl3pPr>
            <a:lvl4pPr marL="6583543" indent="0">
              <a:buNone/>
              <a:defRPr sz="4300"/>
            </a:lvl4pPr>
            <a:lvl5pPr marL="8778057" indent="0">
              <a:buNone/>
              <a:defRPr sz="4300"/>
            </a:lvl5pPr>
            <a:lvl6pPr marL="10972571" indent="0">
              <a:buNone/>
              <a:defRPr sz="4300"/>
            </a:lvl6pPr>
            <a:lvl7pPr marL="13167085" indent="0">
              <a:buNone/>
              <a:defRPr sz="4300"/>
            </a:lvl7pPr>
            <a:lvl8pPr marL="15361599" indent="0">
              <a:buNone/>
              <a:defRPr sz="4300"/>
            </a:lvl8pPr>
            <a:lvl9pPr marL="17556115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5983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</p:spPr>
        <p:txBody>
          <a:bodyPr vert="horz" lIns="438903" tIns="219451" rIns="438903" bIns="21945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8785861"/>
            <a:ext cx="39502080" cy="21724622"/>
          </a:xfrm>
          <a:prstGeom prst="rect">
            <a:avLst/>
          </a:prstGeom>
        </p:spPr>
        <p:txBody>
          <a:bodyPr vert="horz" lIns="438903" tIns="219451" rIns="438903" bIns="21945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84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56" r:id="rId1"/>
    <p:sldLayoutId id="2147493457" r:id="rId2"/>
    <p:sldLayoutId id="2147493458" r:id="rId3"/>
    <p:sldLayoutId id="2147493459" r:id="rId4"/>
    <p:sldLayoutId id="2147493460" r:id="rId5"/>
    <p:sldLayoutId id="2147493461" r:id="rId6"/>
    <p:sldLayoutId id="2147493462" r:id="rId7"/>
    <p:sldLayoutId id="2147493463" r:id="rId8"/>
    <p:sldLayoutId id="2147493464" r:id="rId9"/>
  </p:sldLayoutIdLst>
  <p:txStyles>
    <p:titleStyle>
      <a:lvl1pPr algn="ctr" defTabSz="2194514" rtl="0" eaLnBrk="1" latinLnBrk="0" hangingPunct="1">
        <a:spcBef>
          <a:spcPct val="0"/>
        </a:spcBef>
        <a:buNone/>
        <a:defRPr sz="211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886" indent="-1645886" algn="l" defTabSz="2194514" rtl="0" eaLnBrk="1" latinLnBrk="0" hangingPunct="1">
        <a:spcBef>
          <a:spcPct val="20000"/>
        </a:spcBef>
        <a:buFont typeface="Arial"/>
        <a:buChar char="•"/>
        <a:defRPr sz="13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086" indent="-1371572" algn="l" defTabSz="2194514" rtl="0" eaLnBrk="1" latinLnBrk="0" hangingPunct="1">
        <a:spcBef>
          <a:spcPct val="20000"/>
        </a:spcBef>
        <a:buFont typeface="Arial"/>
        <a:buChar char="–"/>
        <a:defRPr sz="115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86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800" indent="-1097257" algn="l" defTabSz="2194514" rtl="0" eaLnBrk="1" latinLnBrk="0" hangingPunct="1">
        <a:spcBef>
          <a:spcPct val="20000"/>
        </a:spcBef>
        <a:buFont typeface="Arial"/>
        <a:buChar char="–"/>
        <a:defRPr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314" indent="-1097257" algn="l" defTabSz="2194514" rtl="0" eaLnBrk="1" latinLnBrk="0" hangingPunct="1">
        <a:spcBef>
          <a:spcPct val="20000"/>
        </a:spcBef>
        <a:buFont typeface="Arial"/>
        <a:buChar char="»"/>
        <a:defRPr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2069828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342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8858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372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14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028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543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057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71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085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599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115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F2677C8-0A3A-6248-DC54-E64AD55AC974}"/>
              </a:ext>
            </a:extLst>
          </p:cNvPr>
          <p:cNvSpPr/>
          <p:nvPr/>
        </p:nvSpPr>
        <p:spPr>
          <a:xfrm>
            <a:off x="1834896" y="14730749"/>
            <a:ext cx="14824000" cy="1328375"/>
          </a:xfrm>
          <a:prstGeom prst="roundRect">
            <a:avLst>
              <a:gd name="adj" fmla="val 7823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095744" y="2301985"/>
            <a:ext cx="34730248" cy="2382678"/>
          </a:xfrm>
          <a:prstGeom prst="rect">
            <a:avLst/>
          </a:prstGeom>
        </p:spPr>
        <p:txBody>
          <a:bodyPr vert="horz" lIns="438903" tIns="219451" rIns="438903" bIns="219451" rtlCol="0" anchor="ctr">
            <a:normAutofit fontScale="85000" lnSpcReduction="10000"/>
          </a:bodyPr>
          <a:lstStyle>
            <a:lvl1pPr algn="ctr" defTabSz="2194514" rtl="0" eaLnBrk="1" latinLnBrk="0" hangingPunct="1">
              <a:spcBef>
                <a:spcPct val="0"/>
              </a:spcBef>
              <a:buNone/>
              <a:defRPr sz="211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400" dirty="0"/>
              <a:t>Cost-Aware Customer Churn Prediction for Telecom Industry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0432268" y="4099648"/>
            <a:ext cx="22087332" cy="1223710"/>
          </a:xfrm>
          <a:prstGeom prst="rect">
            <a:avLst/>
          </a:prstGeom>
        </p:spPr>
        <p:txBody>
          <a:bodyPr vert="horz" lIns="438903" tIns="219451" rIns="438903" bIns="219451" rtlCol="0">
            <a:noAutofit/>
          </a:bodyPr>
          <a:lstStyle>
            <a:lvl1pPr marL="0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13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194514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1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389028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583543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8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778057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8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72571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167085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361599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556115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1945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Sree Vathsa Kashyap Mydugolam (</a:t>
            </a:r>
            <a:r>
              <a:rPr kumimoji="0" lang="en-IN" sz="2800" b="1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smydugo</a:t>
            </a: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  |   Srinidhi Shivashankar (</a:t>
            </a:r>
            <a:r>
              <a:rPr kumimoji="0" lang="en-IN" sz="2800" b="1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sshivas</a:t>
            </a: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  |   Deekshith Anantha (</a:t>
            </a:r>
            <a:r>
              <a:rPr kumimoji="0" lang="en-IN" sz="2800" b="1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dananth</a:t>
            </a: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  <a:p>
            <a:pPr marL="0" marR="0" lvl="0" indent="0" algn="ctr" defTabSz="21945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Department of Electrical and Computer Engineering, NC State University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r="63636"/>
          <a:stretch/>
        </p:blipFill>
        <p:spPr>
          <a:xfrm>
            <a:off x="1371600" y="914654"/>
            <a:ext cx="5388495" cy="3113627"/>
          </a:xfrm>
          <a:prstGeom prst="rect">
            <a:avLst/>
          </a:prstGeom>
        </p:spPr>
      </p:pic>
      <p:sp>
        <p:nvSpPr>
          <p:cNvPr id="19" name="Rectangle 402"/>
          <p:cNvSpPr>
            <a:spLocks noChangeArrowheads="1"/>
          </p:cNvSpPr>
          <p:nvPr/>
        </p:nvSpPr>
        <p:spPr bwMode="auto">
          <a:xfrm>
            <a:off x="18683312" y="5879230"/>
            <a:ext cx="23625810" cy="7743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defTabSz="4806950">
              <a:defRPr>
                <a:solidFill>
                  <a:schemeClr val="tx1"/>
                </a:solidFill>
                <a:latin typeface="Arial" charset="0"/>
              </a:defRPr>
            </a:lvl1pPr>
            <a:lvl2pPr algn="l" defTabSz="4806950">
              <a:defRPr>
                <a:solidFill>
                  <a:schemeClr val="tx1"/>
                </a:solidFill>
                <a:latin typeface="Arial" charset="0"/>
              </a:defRPr>
            </a:lvl2pPr>
            <a:lvl3pPr algn="l" defTabSz="4806950">
              <a:defRPr>
                <a:solidFill>
                  <a:schemeClr val="tx1"/>
                </a:solidFill>
                <a:latin typeface="Arial" charset="0"/>
              </a:defRPr>
            </a:lvl3pPr>
            <a:lvl4pPr algn="l" defTabSz="4806950">
              <a:defRPr>
                <a:solidFill>
                  <a:schemeClr val="tx1"/>
                </a:solidFill>
                <a:latin typeface="Arial" charset="0"/>
              </a:defRPr>
            </a:lvl4pPr>
            <a:lvl5pPr algn="l" defTabSz="4806950">
              <a:defRPr>
                <a:solidFill>
                  <a:schemeClr val="tx1"/>
                </a:solidFill>
                <a:latin typeface="Arial" charset="0"/>
              </a:defRPr>
            </a:lvl5pPr>
            <a:lvl6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5000"/>
              </a:lnSpc>
            </a:pPr>
            <a:r>
              <a:rPr lang="en-US" altLang="zh-CN" sz="4400" b="1" dirty="0">
                <a:latin typeface="+mn-lt"/>
              </a:rPr>
              <a:t>Some considerations:</a:t>
            </a:r>
          </a:p>
          <a:p>
            <a:pPr>
              <a:lnSpc>
                <a:spcPct val="105000"/>
              </a:lnSpc>
            </a:pPr>
            <a:endParaRPr lang="en-US" altLang="zh-CN" sz="3600" dirty="0">
              <a:latin typeface="+mn-lt"/>
            </a:endParaRPr>
          </a:p>
          <a:p>
            <a:pPr>
              <a:lnSpc>
                <a:spcPct val="105000"/>
              </a:lnSpc>
            </a:pPr>
            <a:r>
              <a:rPr lang="en-US" altLang="zh-CN" sz="3600" dirty="0">
                <a:latin typeface="+mn-lt"/>
              </a:rPr>
              <a:t>Text – </a:t>
            </a:r>
            <a:r>
              <a:rPr lang="en-US" altLang="zh-CN" sz="3600" dirty="0">
                <a:latin typeface="+mn-lt"/>
                <a:ea typeface="宋体" charset="-122"/>
              </a:rPr>
              <a:t>Text should be at least 36 point for normal reading otherwise your audience will be squinting and miss your content. For ease of viewing, utilize ample (and consistent) imagery – a picture tells a thousand words, and nobody is going to read a thousand words on your poster.</a:t>
            </a:r>
          </a:p>
          <a:p>
            <a:pPr>
              <a:lnSpc>
                <a:spcPct val="105000"/>
              </a:lnSpc>
            </a:pPr>
            <a:endParaRPr lang="en-US" altLang="zh-CN" sz="3600" dirty="0">
              <a:latin typeface="+mn-lt"/>
            </a:endParaRPr>
          </a:p>
          <a:p>
            <a:pPr>
              <a:lnSpc>
                <a:spcPct val="105000"/>
              </a:lnSpc>
            </a:pPr>
            <a:r>
              <a:rPr lang="en-US" altLang="zh-CN" sz="3600" dirty="0">
                <a:latin typeface="+mn-lt"/>
              </a:rPr>
              <a:t>Images – </a:t>
            </a:r>
            <a:r>
              <a:rPr lang="en-US" altLang="zh-CN" sz="3600" dirty="0">
                <a:latin typeface="+mn-lt"/>
                <a:ea typeface="宋体" charset="-122"/>
              </a:rPr>
              <a:t>Utilize JPG or PNG images – other formats may look fine; however, they may pose issues when printing. Images should be either original (your work) or appropriately credited licensed imagery. Photos should be at a 220-dpi resolution – even though a lower resolution image may look fine on the screen (72 dpi), they will look poor in print. </a:t>
            </a:r>
          </a:p>
          <a:p>
            <a:pPr>
              <a:lnSpc>
                <a:spcPct val="105000"/>
              </a:lnSpc>
            </a:pPr>
            <a:endParaRPr lang="en-US" altLang="zh-CN" sz="3600" dirty="0">
              <a:latin typeface="+mn-lt"/>
            </a:endParaRPr>
          </a:p>
          <a:p>
            <a:pPr>
              <a:lnSpc>
                <a:spcPct val="105000"/>
              </a:lnSpc>
            </a:pPr>
            <a:r>
              <a:rPr lang="en-US" altLang="zh-CN" sz="3600" dirty="0">
                <a:latin typeface="+mn-lt"/>
              </a:rPr>
              <a:t>Color - Avoid a high percentage of colored background.  If you absolutely have to have a lot of color in the background use Wolf Xpress. The paper we normally use will not support high color density, nor will our ink budget.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7F0882-0239-10EF-F7CC-910E7D19F188}"/>
              </a:ext>
            </a:extLst>
          </p:cNvPr>
          <p:cNvSpPr txBox="1"/>
          <p:nvPr/>
        </p:nvSpPr>
        <p:spPr>
          <a:xfrm>
            <a:off x="6760095" y="1434926"/>
            <a:ext cx="10528844" cy="101566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C00000"/>
                </a:solidFill>
                <a:latin typeface="+mj-lt"/>
              </a:rPr>
              <a:t>AI Student Symposium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1F05A-7FF3-52BF-3AB8-B995310A4974}"/>
              </a:ext>
            </a:extLst>
          </p:cNvPr>
          <p:cNvSpPr txBox="1"/>
          <p:nvPr/>
        </p:nvSpPr>
        <p:spPr>
          <a:xfrm>
            <a:off x="36137088" y="1434926"/>
            <a:ext cx="5266944" cy="10156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Poster 60</a:t>
            </a:r>
          </a:p>
        </p:txBody>
      </p:sp>
      <p:sp>
        <p:nvSpPr>
          <p:cNvPr id="7" name="Text Box 28">
            <a:extLst>
              <a:ext uri="{FF2B5EF4-FFF2-40B4-BE49-F238E27FC236}">
                <a16:creationId xmlns:a16="http://schemas.microsoft.com/office/drawing/2014/main" id="{EF315326-F99F-E0BE-9855-D7D1D47F4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6880" y="13532281"/>
            <a:ext cx="11498581" cy="10156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algn="l" defTabSz="4806950">
              <a:defRPr>
                <a:solidFill>
                  <a:schemeClr val="tx1"/>
                </a:solidFill>
                <a:latin typeface="Arial" charset="0"/>
              </a:defRPr>
            </a:lvl1pPr>
            <a:lvl2pPr algn="l" defTabSz="4806950">
              <a:defRPr>
                <a:solidFill>
                  <a:schemeClr val="tx1"/>
                </a:solidFill>
                <a:latin typeface="Arial" charset="0"/>
              </a:defRPr>
            </a:lvl2pPr>
            <a:lvl3pPr algn="l" defTabSz="4806950">
              <a:defRPr>
                <a:solidFill>
                  <a:schemeClr val="tx1"/>
                </a:solidFill>
                <a:latin typeface="Arial" charset="0"/>
              </a:defRPr>
            </a:lvl3pPr>
            <a:lvl4pPr algn="l" defTabSz="4806950">
              <a:defRPr>
                <a:solidFill>
                  <a:schemeClr val="tx1"/>
                </a:solidFill>
                <a:latin typeface="Arial" charset="0"/>
              </a:defRPr>
            </a:lvl4pPr>
            <a:lvl5pPr algn="l" defTabSz="4806950">
              <a:defRPr>
                <a:solidFill>
                  <a:schemeClr val="tx1"/>
                </a:solidFill>
                <a:latin typeface="Arial" charset="0"/>
              </a:defRPr>
            </a:lvl5pPr>
            <a:lvl6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6000" dirty="0">
                <a:latin typeface="+mj-lt"/>
                <a:ea typeface="宋体" charset="-122"/>
              </a:rPr>
              <a:t>Evaluation Plan and Results</a:t>
            </a:r>
          </a:p>
        </p:txBody>
      </p:sp>
      <p:sp>
        <p:nvSpPr>
          <p:cNvPr id="13" name="Text Box 28">
            <a:extLst>
              <a:ext uri="{FF2B5EF4-FFF2-40B4-BE49-F238E27FC236}">
                <a16:creationId xmlns:a16="http://schemas.microsoft.com/office/drawing/2014/main" id="{752C864B-C443-2C38-80A0-409876B42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496" y="4711503"/>
            <a:ext cx="7613904" cy="10156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algn="l" defTabSz="4806950">
              <a:defRPr>
                <a:solidFill>
                  <a:schemeClr val="tx1"/>
                </a:solidFill>
                <a:latin typeface="Arial" charset="0"/>
              </a:defRPr>
            </a:lvl1pPr>
            <a:lvl2pPr algn="l" defTabSz="4806950">
              <a:defRPr>
                <a:solidFill>
                  <a:schemeClr val="tx1"/>
                </a:solidFill>
                <a:latin typeface="Arial" charset="0"/>
              </a:defRPr>
            </a:lvl2pPr>
            <a:lvl3pPr algn="l" defTabSz="4806950">
              <a:defRPr>
                <a:solidFill>
                  <a:schemeClr val="tx1"/>
                </a:solidFill>
                <a:latin typeface="Arial" charset="0"/>
              </a:defRPr>
            </a:lvl3pPr>
            <a:lvl4pPr algn="l" defTabSz="4806950">
              <a:defRPr>
                <a:solidFill>
                  <a:schemeClr val="tx1"/>
                </a:solidFill>
                <a:latin typeface="Arial" charset="0"/>
              </a:defRPr>
            </a:lvl4pPr>
            <a:lvl5pPr algn="l" defTabSz="4806950">
              <a:defRPr>
                <a:solidFill>
                  <a:schemeClr val="tx1"/>
                </a:solidFill>
                <a:latin typeface="Arial" charset="0"/>
              </a:defRPr>
            </a:lvl5pPr>
            <a:lvl6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6000" dirty="0">
                <a:latin typeface="+mj-lt"/>
                <a:ea typeface="宋体" charset="-122"/>
              </a:rPr>
              <a:t>Motivation &amp; Problem </a:t>
            </a:r>
          </a:p>
        </p:txBody>
      </p:sp>
      <p:sp>
        <p:nvSpPr>
          <p:cNvPr id="14" name="Text Box 28">
            <a:extLst>
              <a:ext uri="{FF2B5EF4-FFF2-40B4-BE49-F238E27FC236}">
                <a16:creationId xmlns:a16="http://schemas.microsoft.com/office/drawing/2014/main" id="{8C8C0813-9EA5-F858-0432-FC0555A4C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496" y="8808854"/>
            <a:ext cx="4498848" cy="10156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algn="l" defTabSz="4806950">
              <a:defRPr>
                <a:solidFill>
                  <a:schemeClr val="tx1"/>
                </a:solidFill>
                <a:latin typeface="Arial" charset="0"/>
              </a:defRPr>
            </a:lvl1pPr>
            <a:lvl2pPr algn="l" defTabSz="4806950">
              <a:defRPr>
                <a:solidFill>
                  <a:schemeClr val="tx1"/>
                </a:solidFill>
                <a:latin typeface="Arial" charset="0"/>
              </a:defRPr>
            </a:lvl2pPr>
            <a:lvl3pPr algn="l" defTabSz="4806950">
              <a:defRPr>
                <a:solidFill>
                  <a:schemeClr val="tx1"/>
                </a:solidFill>
                <a:latin typeface="Arial" charset="0"/>
              </a:defRPr>
            </a:lvl3pPr>
            <a:lvl4pPr algn="l" defTabSz="4806950">
              <a:defRPr>
                <a:solidFill>
                  <a:schemeClr val="tx1"/>
                </a:solidFill>
                <a:latin typeface="Arial" charset="0"/>
              </a:defRPr>
            </a:lvl4pPr>
            <a:lvl5pPr algn="l" defTabSz="4806950">
              <a:defRPr>
                <a:solidFill>
                  <a:schemeClr val="tx1"/>
                </a:solidFill>
                <a:latin typeface="Arial" charset="0"/>
              </a:defRPr>
            </a:lvl5pPr>
            <a:lvl6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6000" dirty="0">
                <a:latin typeface="+mj-lt"/>
                <a:ea typeface="宋体" charset="-122"/>
              </a:rPr>
              <a:t>Data &amp; EDA</a:t>
            </a:r>
          </a:p>
        </p:txBody>
      </p:sp>
      <p:sp>
        <p:nvSpPr>
          <p:cNvPr id="25" name="Text Box 28">
            <a:extLst>
              <a:ext uri="{FF2B5EF4-FFF2-40B4-BE49-F238E27FC236}">
                <a16:creationId xmlns:a16="http://schemas.microsoft.com/office/drawing/2014/main" id="{DB5C43BF-EDF5-3B14-6146-914BE0032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4896" y="13670954"/>
            <a:ext cx="4498848" cy="10156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algn="l" defTabSz="4806950">
              <a:defRPr>
                <a:solidFill>
                  <a:schemeClr val="tx1"/>
                </a:solidFill>
                <a:latin typeface="Arial" charset="0"/>
              </a:defRPr>
            </a:lvl1pPr>
            <a:lvl2pPr algn="l" defTabSz="4806950">
              <a:defRPr>
                <a:solidFill>
                  <a:schemeClr val="tx1"/>
                </a:solidFill>
                <a:latin typeface="Arial" charset="0"/>
              </a:defRPr>
            </a:lvl2pPr>
            <a:lvl3pPr algn="l" defTabSz="4806950">
              <a:defRPr>
                <a:solidFill>
                  <a:schemeClr val="tx1"/>
                </a:solidFill>
                <a:latin typeface="Arial" charset="0"/>
              </a:defRPr>
            </a:lvl3pPr>
            <a:lvl4pPr algn="l" defTabSz="4806950">
              <a:defRPr>
                <a:solidFill>
                  <a:schemeClr val="tx1"/>
                </a:solidFill>
                <a:latin typeface="Arial" charset="0"/>
              </a:defRPr>
            </a:lvl4pPr>
            <a:lvl5pPr algn="l" defTabSz="4806950">
              <a:defRPr>
                <a:solidFill>
                  <a:schemeClr val="tx1"/>
                </a:solidFill>
                <a:latin typeface="Arial" charset="0"/>
              </a:defRPr>
            </a:lvl5pPr>
            <a:lvl6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6000" dirty="0">
                <a:latin typeface="+mj-lt"/>
                <a:ea typeface="宋体" charset="-122"/>
              </a:rPr>
              <a:t>Approach</a:t>
            </a:r>
          </a:p>
        </p:txBody>
      </p:sp>
      <p:sp>
        <p:nvSpPr>
          <p:cNvPr id="26" name="Text Box 28">
            <a:extLst>
              <a:ext uri="{FF2B5EF4-FFF2-40B4-BE49-F238E27FC236}">
                <a16:creationId xmlns:a16="http://schemas.microsoft.com/office/drawing/2014/main" id="{BECF2EF8-A8A6-A1A6-CD2C-98CFA7572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3903" y="16123928"/>
            <a:ext cx="7613904" cy="10156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algn="l" defTabSz="4806950">
              <a:defRPr>
                <a:solidFill>
                  <a:schemeClr val="tx1"/>
                </a:solidFill>
                <a:latin typeface="Arial" charset="0"/>
              </a:defRPr>
            </a:lvl1pPr>
            <a:lvl2pPr algn="l" defTabSz="4806950">
              <a:defRPr>
                <a:solidFill>
                  <a:schemeClr val="tx1"/>
                </a:solidFill>
                <a:latin typeface="Arial" charset="0"/>
              </a:defRPr>
            </a:lvl2pPr>
            <a:lvl3pPr algn="l" defTabSz="4806950">
              <a:defRPr>
                <a:solidFill>
                  <a:schemeClr val="tx1"/>
                </a:solidFill>
                <a:latin typeface="Arial" charset="0"/>
              </a:defRPr>
            </a:lvl3pPr>
            <a:lvl4pPr algn="l" defTabSz="4806950">
              <a:defRPr>
                <a:solidFill>
                  <a:schemeClr val="tx1"/>
                </a:solidFill>
                <a:latin typeface="Arial" charset="0"/>
              </a:defRPr>
            </a:lvl4pPr>
            <a:lvl5pPr algn="l" defTabSz="4806950">
              <a:defRPr>
                <a:solidFill>
                  <a:schemeClr val="tx1"/>
                </a:solidFill>
                <a:latin typeface="Arial" charset="0"/>
              </a:defRPr>
            </a:lvl5pPr>
            <a:lvl6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6000" dirty="0">
                <a:latin typeface="+mj-lt"/>
                <a:ea typeface="宋体" charset="-122"/>
              </a:rPr>
              <a:t>Network Architecture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F4D8AF-4EB9-BE9E-A276-0F846301C3A3}"/>
              </a:ext>
            </a:extLst>
          </p:cNvPr>
          <p:cNvSpPr txBox="1"/>
          <p:nvPr/>
        </p:nvSpPr>
        <p:spPr>
          <a:xfrm>
            <a:off x="24485600" y="1424309"/>
            <a:ext cx="10554208" cy="10156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Course ID : ECE525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10A938F-4F4E-426F-90C1-529C2FC5F042}"/>
              </a:ext>
            </a:extLst>
          </p:cNvPr>
          <p:cNvSpPr/>
          <p:nvPr/>
        </p:nvSpPr>
        <p:spPr>
          <a:xfrm>
            <a:off x="18683312" y="14588753"/>
            <a:ext cx="23864529" cy="12857085"/>
          </a:xfrm>
          <a:prstGeom prst="roundRect">
            <a:avLst>
              <a:gd name="adj" fmla="val 7823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 Box 28">
            <a:extLst>
              <a:ext uri="{FF2B5EF4-FFF2-40B4-BE49-F238E27FC236}">
                <a16:creationId xmlns:a16="http://schemas.microsoft.com/office/drawing/2014/main" id="{B655D181-F598-D698-3E33-C12C6EB59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56278" y="27845855"/>
            <a:ext cx="7708326" cy="10156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algn="l" defTabSz="4806950">
              <a:defRPr>
                <a:solidFill>
                  <a:schemeClr val="tx1"/>
                </a:solidFill>
                <a:latin typeface="Arial" charset="0"/>
              </a:defRPr>
            </a:lvl1pPr>
            <a:lvl2pPr algn="l" defTabSz="4806950">
              <a:defRPr>
                <a:solidFill>
                  <a:schemeClr val="tx1"/>
                </a:solidFill>
                <a:latin typeface="Arial" charset="0"/>
              </a:defRPr>
            </a:lvl2pPr>
            <a:lvl3pPr algn="l" defTabSz="4806950">
              <a:defRPr>
                <a:solidFill>
                  <a:schemeClr val="tx1"/>
                </a:solidFill>
                <a:latin typeface="Arial" charset="0"/>
              </a:defRPr>
            </a:lvl3pPr>
            <a:lvl4pPr algn="l" defTabSz="4806950">
              <a:defRPr>
                <a:solidFill>
                  <a:schemeClr val="tx1"/>
                </a:solidFill>
                <a:latin typeface="Arial" charset="0"/>
              </a:defRPr>
            </a:lvl4pPr>
            <a:lvl5pPr algn="l" defTabSz="4806950">
              <a:defRPr>
                <a:solidFill>
                  <a:schemeClr val="tx1"/>
                </a:solidFill>
                <a:latin typeface="Arial" charset="0"/>
              </a:defRPr>
            </a:lvl5pPr>
            <a:lvl6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6000" dirty="0">
                <a:latin typeface="+mj-lt"/>
                <a:ea typeface="宋体" charset="-122"/>
              </a:rPr>
              <a:t>Main References</a:t>
            </a:r>
          </a:p>
        </p:txBody>
      </p:sp>
      <p:sp>
        <p:nvSpPr>
          <p:cNvPr id="31" name="Text Box 365">
            <a:extLst>
              <a:ext uri="{FF2B5EF4-FFF2-40B4-BE49-F238E27FC236}">
                <a16:creationId xmlns:a16="http://schemas.microsoft.com/office/drawing/2014/main" id="{6DC06DEB-58A2-FE0B-FAD4-422E3A6F0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56278" y="29137782"/>
            <a:ext cx="23836287" cy="108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defTabSz="4806950">
              <a:defRPr>
                <a:solidFill>
                  <a:schemeClr val="tx1"/>
                </a:solidFill>
                <a:latin typeface="Arial" charset="0"/>
              </a:defRPr>
            </a:lvl1pPr>
            <a:lvl2pPr algn="l" defTabSz="4806950">
              <a:defRPr>
                <a:solidFill>
                  <a:schemeClr val="tx1"/>
                </a:solidFill>
                <a:latin typeface="Arial" charset="0"/>
              </a:defRPr>
            </a:lvl2pPr>
            <a:lvl3pPr algn="l" defTabSz="4806950">
              <a:defRPr>
                <a:solidFill>
                  <a:schemeClr val="tx1"/>
                </a:solidFill>
                <a:latin typeface="Arial" charset="0"/>
              </a:defRPr>
            </a:lvl3pPr>
            <a:lvl4pPr algn="l" defTabSz="4806950">
              <a:defRPr>
                <a:solidFill>
                  <a:schemeClr val="tx1"/>
                </a:solidFill>
                <a:latin typeface="Arial" charset="0"/>
              </a:defRPr>
            </a:lvl4pPr>
            <a:lvl5pPr algn="l" defTabSz="4806950">
              <a:defRPr>
                <a:solidFill>
                  <a:schemeClr val="tx1"/>
                </a:solidFill>
                <a:latin typeface="Arial" charset="0"/>
              </a:defRPr>
            </a:lvl5pPr>
            <a:lvl6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indent="-571500">
              <a:lnSpc>
                <a:spcPct val="105000"/>
              </a:lnSpc>
              <a:buFont typeface="Wingdings" panose="05000000000000000000" pitchFamily="2" charset="2"/>
              <a:buChar char="§"/>
            </a:pPr>
            <a:r>
              <a:rPr sz="1600" b="0" dirty="0">
                <a:solidFill>
                  <a:srgbClr val="222222"/>
                </a:solidFill>
              </a:rPr>
              <a:t>[1] Verbeke, W. et al. (2012). New insights into churn prediction in telecommunications. Eur. J. Operational Research, 218(1), 211-229.</a:t>
            </a:r>
          </a:p>
          <a:p>
            <a:r>
              <a:rPr sz="1600" b="0" dirty="0">
                <a:solidFill>
                  <a:srgbClr val="222222"/>
                </a:solidFill>
              </a:rPr>
              <a:t>[2] </a:t>
            </a:r>
            <a:r>
              <a:rPr sz="1600" b="0" dirty="0" err="1">
                <a:solidFill>
                  <a:srgbClr val="222222"/>
                </a:solidFill>
              </a:rPr>
              <a:t>Prokhorenkova</a:t>
            </a:r>
            <a:r>
              <a:rPr sz="1600" b="0" dirty="0">
                <a:solidFill>
                  <a:srgbClr val="222222"/>
                </a:solidFill>
              </a:rPr>
              <a:t>, L. et al. (2018). </a:t>
            </a:r>
            <a:r>
              <a:rPr sz="1600" b="0" dirty="0" err="1">
                <a:solidFill>
                  <a:srgbClr val="222222"/>
                </a:solidFill>
              </a:rPr>
              <a:t>CatBoost</a:t>
            </a:r>
            <a:r>
              <a:rPr sz="1600" b="0" dirty="0">
                <a:solidFill>
                  <a:srgbClr val="222222"/>
                </a:solidFill>
              </a:rPr>
              <a:t>: unbiased boosting with categorical features. </a:t>
            </a:r>
            <a:r>
              <a:rPr sz="1600" b="0" dirty="0" err="1">
                <a:solidFill>
                  <a:srgbClr val="222222"/>
                </a:solidFill>
              </a:rPr>
              <a:t>NeurIPS</a:t>
            </a:r>
            <a:r>
              <a:rPr sz="1600" b="0" dirty="0">
                <a:solidFill>
                  <a:srgbClr val="222222"/>
                </a:solidFill>
              </a:rPr>
              <a:t>.</a:t>
            </a:r>
          </a:p>
          <a:p>
            <a:r>
              <a:rPr sz="1600" b="0" dirty="0">
                <a:solidFill>
                  <a:srgbClr val="222222"/>
                </a:solidFill>
              </a:rPr>
              <a:t>[3] Chen, T. &amp; </a:t>
            </a:r>
            <a:r>
              <a:rPr sz="1600" b="0" dirty="0" err="1">
                <a:solidFill>
                  <a:srgbClr val="222222"/>
                </a:solidFill>
              </a:rPr>
              <a:t>Guestrin</a:t>
            </a:r>
            <a:r>
              <a:rPr sz="1600" b="0" dirty="0">
                <a:solidFill>
                  <a:srgbClr val="222222"/>
                </a:solidFill>
              </a:rPr>
              <a:t>, C. (2016). </a:t>
            </a:r>
            <a:r>
              <a:rPr sz="1600" b="0" dirty="0" err="1">
                <a:solidFill>
                  <a:srgbClr val="222222"/>
                </a:solidFill>
              </a:rPr>
              <a:t>XGBoost</a:t>
            </a:r>
            <a:r>
              <a:rPr sz="1600" b="0" dirty="0">
                <a:solidFill>
                  <a:srgbClr val="222222"/>
                </a:solidFill>
              </a:rPr>
              <a:t>: a scalable tree-boosting system. KDD.</a:t>
            </a:r>
          </a:p>
          <a:p>
            <a:r>
              <a:rPr sz="1600" b="0" dirty="0">
                <a:solidFill>
                  <a:srgbClr val="222222"/>
                </a:solidFill>
              </a:rPr>
              <a:t>Dataset: IBM Telco Customer Churn (Kaggle: </a:t>
            </a:r>
            <a:r>
              <a:rPr sz="1600" b="0" dirty="0" err="1">
                <a:solidFill>
                  <a:srgbClr val="222222"/>
                </a:solidFill>
              </a:rPr>
              <a:t>blastchar</a:t>
            </a:r>
            <a:r>
              <a:rPr sz="1600" b="0" dirty="0">
                <a:solidFill>
                  <a:srgbClr val="222222"/>
                </a:solidFill>
              </a:rPr>
              <a:t>/telco-customer-churn).   Acknowledgements: Dr. Edgar Lobaton (instructor, ECE 525).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BAF8EC8D-CFD9-79C2-C4C1-835E8820E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877014"/>
              </p:ext>
            </p:extLst>
          </p:nvPr>
        </p:nvGraphicFramePr>
        <p:xfrm>
          <a:off x="18866190" y="15074346"/>
          <a:ext cx="23494454" cy="2670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6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6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56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563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4047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PR-AUC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Brier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047">
                <a:tc>
                  <a:txBody>
                    <a:bodyPr/>
                    <a:lstStyle/>
                    <a:p>
                      <a:r>
                        <a:rPr sz="2000" b="1"/>
                        <a:t>CatBoost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/>
                        <a:t>0.624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/>
                        <a:t>0.841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/>
                        <a:t>0.642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/>
                        <a:t>0.139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/>
                        <a:t>0.768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/>
                        <a:t>0.526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047">
                <a:tc>
                  <a:txBody>
                    <a:bodyPr/>
                    <a:lstStyle/>
                    <a:p>
                      <a:r>
                        <a:rPr sz="200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0.831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0.591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0.746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0.516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047">
                <a:tc>
                  <a:txBody>
                    <a:bodyPr/>
                    <a:lstStyle/>
                    <a:p>
                      <a:r>
                        <a:rPr sz="2000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0.608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0.838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0.725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047">
                <a:tc>
                  <a:txBody>
                    <a:bodyPr/>
                    <a:lstStyle/>
                    <a:p>
                      <a:r>
                        <a:rPr sz="2000"/>
                        <a:t>MLP (custom NN)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0.603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0.826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0.177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0.488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2685C984-AAC7-4CCC-1446-C1DBC55651F6}"/>
              </a:ext>
            </a:extLst>
          </p:cNvPr>
          <p:cNvSpPr txBox="1"/>
          <p:nvPr/>
        </p:nvSpPr>
        <p:spPr>
          <a:xfrm>
            <a:off x="18866192" y="17497504"/>
            <a:ext cx="23494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22222"/>
                </a:solidFill>
              </a:rPr>
              <a:t>Test metrics with validation-tuned threshold. CatBoost wins on F1 + Brier; XGBoost ties PR-AUC.</a:t>
            </a: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B867D636-2897-45E2-B8B2-AF5DC38708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478457"/>
              </p:ext>
            </p:extLst>
          </p:nvPr>
        </p:nvGraphicFramePr>
        <p:xfrm>
          <a:off x="18866189" y="18000426"/>
          <a:ext cx="23494452" cy="2362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1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1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31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26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Optimal threshold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Net value / 1,000 customers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26">
                <a:tc>
                  <a:txBody>
                    <a:bodyPr/>
                    <a:lstStyle/>
                    <a:p>
                      <a:r>
                        <a:rPr sz="200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/>
                        <a:t>$371,043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26">
                <a:tc>
                  <a:txBody>
                    <a:bodyPr/>
                    <a:lstStyle/>
                    <a:p>
                      <a:r>
                        <a:rPr sz="2000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/>
                        <a:t>$370,616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26">
                <a:tc>
                  <a:txBody>
                    <a:bodyPr/>
                    <a:lstStyle/>
                    <a:p>
                      <a:r>
                        <a:rPr sz="2000"/>
                        <a:t>CatBoost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/>
                        <a:t>$370,142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26">
                <a:tc>
                  <a:txBody>
                    <a:bodyPr/>
                    <a:lstStyle/>
                    <a:p>
                      <a:r>
                        <a:rPr sz="2000"/>
                        <a:t>MLP (custom NN)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 dirty="0"/>
                        <a:t>$368,910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005907B2-AD46-EC2B-BED0-E4785645C199}"/>
              </a:ext>
            </a:extLst>
          </p:cNvPr>
          <p:cNvSpPr txBox="1"/>
          <p:nvPr/>
        </p:nvSpPr>
        <p:spPr>
          <a:xfrm>
            <a:off x="18866192" y="20103545"/>
            <a:ext cx="23494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dirty="0">
                <a:solidFill>
                  <a:srgbClr val="222222"/>
                </a:solidFill>
              </a:rPr>
              <a:t>Cost-aware optima ($1500 FN / $50 FP). Architecture gap &lt; 1% - threshold dominates.</a:t>
            </a:r>
          </a:p>
        </p:txBody>
      </p:sp>
      <p:pic>
        <p:nvPicPr>
          <p:cNvPr id="36" name="Picture 35" descr="boosted_roc_pr_curves.png">
            <a:extLst>
              <a:ext uri="{FF2B5EF4-FFF2-40B4-BE49-F238E27FC236}">
                <a16:creationId xmlns:a16="http://schemas.microsoft.com/office/drawing/2014/main" id="{E1DDA015-59A5-1802-D606-3968C93F54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66192" y="20606465"/>
            <a:ext cx="10919307" cy="4359194"/>
          </a:xfrm>
          <a:prstGeom prst="rect">
            <a:avLst/>
          </a:prstGeom>
        </p:spPr>
      </p:pic>
      <p:pic>
        <p:nvPicPr>
          <p:cNvPr id="37" name="Picture 36" descr="feature_importance_catboost.png">
            <a:extLst>
              <a:ext uri="{FF2B5EF4-FFF2-40B4-BE49-F238E27FC236}">
                <a16:creationId xmlns:a16="http://schemas.microsoft.com/office/drawing/2014/main" id="{2147E2BE-4EF6-FADD-D14A-C82DDBFA42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85500" y="20606466"/>
            <a:ext cx="8536912" cy="435919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1F117D96-C5E7-CEE0-A542-3FEFD6D6E74A}"/>
              </a:ext>
            </a:extLst>
          </p:cNvPr>
          <p:cNvSpPr txBox="1"/>
          <p:nvPr/>
        </p:nvSpPr>
        <p:spPr>
          <a:xfrm>
            <a:off x="18866192" y="24949865"/>
            <a:ext cx="2349445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22222"/>
                </a:solidFill>
              </a:rPr>
              <a:t>Findings:</a:t>
            </a:r>
          </a:p>
          <a:p>
            <a:r>
              <a:rPr sz="2200" b="0">
                <a:solidFill>
                  <a:srgbClr val="222222"/>
                </a:solidFill>
              </a:rPr>
              <a:t>  1. CatBoost is the strongest classifier (F1 0.624, ROC-AUC 0.841, lowest Brier 0.139).</a:t>
            </a:r>
          </a:p>
          <a:p>
            <a:r>
              <a:rPr sz="2200" b="0">
                <a:solidFill>
                  <a:srgbClr val="222222"/>
                </a:solidFill>
              </a:rPr>
              <a:t>  2. Custom MLP does NOT beat logistic regression - nonlinear capacity adds little on small one-hot tabular data.</a:t>
            </a:r>
          </a:p>
          <a:p>
            <a:r>
              <a:rPr sz="2200" b="0">
                <a:solidFill>
                  <a:srgbClr val="222222"/>
                </a:solidFill>
              </a:rPr>
              <a:t>  3. Cost-aware threshold tuning recovers ~$370K / 1,000 customers across all 4 models; architecture gap &lt; 1%.</a:t>
            </a:r>
          </a:p>
          <a:p>
            <a:r>
              <a:rPr sz="2200" b="0">
                <a:solidFill>
                  <a:srgbClr val="222222"/>
                </a:solidFill>
              </a:rPr>
              <a:t>  4. CatBoost importance + counterfactual map model output to specific retention actions (contract upgrade, internet downgrade).</a:t>
            </a:r>
          </a:p>
          <a:p>
            <a:r>
              <a:rPr sz="2200" b="0">
                <a:solidFill>
                  <a:srgbClr val="222222"/>
                </a:solidFill>
              </a:rPr>
              <a:t>Next steps: stacking ensemble; cost-sensitive loss inside MLP training; live A/B test of threshold; monthly recalibration.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50C6D4-0074-654B-234B-2088F392807B}"/>
              </a:ext>
            </a:extLst>
          </p:cNvPr>
          <p:cNvSpPr txBox="1"/>
          <p:nvPr/>
        </p:nvSpPr>
        <p:spPr>
          <a:xfrm>
            <a:off x="1933903" y="5855033"/>
            <a:ext cx="1472499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Customer churn — when a paying subscriber leaves a service — is one of the most expensive problems in telecom. Acquiring a new customer costs 5×–7× more than retaining an existing one, so identifying customers who are about to leave is directly tied to revenue.</a:t>
            </a:r>
          </a:p>
          <a:p>
            <a:pPr algn="just"/>
            <a:r>
              <a:rPr lang="en-US" sz="1800" b="1" dirty="0"/>
              <a:t>The challenge</a:t>
            </a:r>
            <a:r>
              <a:rPr lang="en-US" sz="1800" dirty="0"/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The signal is imbalanced: only 26% of customers churn.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The cost is asymmetric: missing a churner ($1,500 lifetime value lost) is 30× worse than a false alarm ($50 retention call).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Default model thresholds (0.5) ignore both, so even a "good" model can be a poor business tool.</a:t>
            </a:r>
          </a:p>
          <a:p>
            <a:pPr algn="just"/>
            <a:endParaRPr lang="en-US" sz="1800" dirty="0"/>
          </a:p>
          <a:p>
            <a:pPr algn="just"/>
            <a:r>
              <a:rPr lang="en-US" sz="1800" b="1" dirty="0"/>
              <a:t>Our contribution</a:t>
            </a:r>
            <a:r>
              <a:rPr lang="en-US" sz="1800" dirty="0"/>
              <a:t>: We build and compare four churn classifiers — Logistic Regression, a custom MLP, </a:t>
            </a:r>
            <a:r>
              <a:rPr lang="en-US" sz="1800" dirty="0" err="1"/>
              <a:t>CatBoost</a:t>
            </a:r>
            <a:r>
              <a:rPr lang="en-US" sz="1800" dirty="0"/>
              <a:t>, and </a:t>
            </a:r>
            <a:r>
              <a:rPr lang="en-US" sz="1800" dirty="0" err="1"/>
              <a:t>XGBoost</a:t>
            </a:r>
            <a:r>
              <a:rPr lang="en-US" sz="1800" dirty="0"/>
              <a:t> — under a</a:t>
            </a:r>
            <a:r>
              <a:rPr lang="en-US" sz="1800" b="1" dirty="0"/>
              <a:t> cost-aware evaluation</a:t>
            </a:r>
            <a:r>
              <a:rPr lang="en-US" sz="1800" dirty="0"/>
              <a:t> that ties model probabilities to dollars. We show that the right </a:t>
            </a:r>
            <a:r>
              <a:rPr lang="en-US" sz="1800" i="1" dirty="0"/>
              <a:t>operating threshold</a:t>
            </a:r>
            <a:r>
              <a:rPr lang="en-US" sz="1800" dirty="0"/>
              <a:t> matters more than the choice of architecture.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050924B-C51B-ACCA-6077-413B0F74CFA6}"/>
              </a:ext>
            </a:extLst>
          </p:cNvPr>
          <p:cNvSpPr/>
          <p:nvPr/>
        </p:nvSpPr>
        <p:spPr>
          <a:xfrm>
            <a:off x="1834896" y="5777032"/>
            <a:ext cx="14839766" cy="3030413"/>
          </a:xfrm>
          <a:prstGeom prst="roundRect">
            <a:avLst>
              <a:gd name="adj" fmla="val 7823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124D13F-DEB2-0972-6DED-9FACF55126B3}"/>
              </a:ext>
            </a:extLst>
          </p:cNvPr>
          <p:cNvSpPr txBox="1"/>
          <p:nvPr/>
        </p:nvSpPr>
        <p:spPr>
          <a:xfrm>
            <a:off x="2028588" y="10057987"/>
            <a:ext cx="144523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Dataset. IBM Telco Customer Churn — 7,032 customers × 19 features after cleaning. Demographics, account info, service mix, charges. Target: Churn (Yes/No).</a:t>
            </a:r>
          </a:p>
          <a:p>
            <a:r>
              <a:rPr lang="en-US" sz="1800" dirty="0"/>
              <a:t>Class imbalance: 5,163 stayed (73.4%) · 1,869 churned (26.6%).</a:t>
            </a:r>
          </a:p>
          <a:p>
            <a:r>
              <a:rPr lang="en-US" sz="1800" dirty="0"/>
              <a:t>Top churn drivers (from EDA):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Contract type — Month-to-month customers churn at 43%; two-year contracts at 3%.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Tenure — churners cluster in the first 12 months.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Internet service — Fiber optic users churn at 42% vs DSL at 19%.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Payment method — Electronic check at 45%; auto-pay &lt;20%.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F01DEE0-DFD2-CAC4-B10E-85FF1CDBAB4E}"/>
              </a:ext>
            </a:extLst>
          </p:cNvPr>
          <p:cNvSpPr/>
          <p:nvPr/>
        </p:nvSpPr>
        <p:spPr>
          <a:xfrm>
            <a:off x="1834896" y="9938170"/>
            <a:ext cx="14839766" cy="2625622"/>
          </a:xfrm>
          <a:prstGeom prst="roundRect">
            <a:avLst>
              <a:gd name="adj" fmla="val 7823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13E187B-EB38-E04E-E7D1-2F6EF4203A22}"/>
              </a:ext>
            </a:extLst>
          </p:cNvPr>
          <p:cNvSpPr txBox="1"/>
          <p:nvPr/>
        </p:nvSpPr>
        <p:spPr>
          <a:xfrm>
            <a:off x="2028588" y="14782595"/>
            <a:ext cx="144523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>
                <a:solidFill>
                  <a:srgbClr val="222222"/>
                </a:solidFill>
              </a:rPr>
              <a:t>Stratified 70 / 15 / 15 train-validation-test split. </a:t>
            </a:r>
            <a:r>
              <a:rPr lang="en-US" sz="1800" dirty="0" err="1">
                <a:solidFill>
                  <a:srgbClr val="222222"/>
                </a:solidFill>
              </a:rPr>
              <a:t>StandardScaler</a:t>
            </a:r>
            <a:r>
              <a:rPr lang="en-US" sz="1800" dirty="0">
                <a:solidFill>
                  <a:srgbClr val="222222"/>
                </a:solidFill>
              </a:rPr>
              <a:t> fit on training fold ONLY (no leakage).</a:t>
            </a:r>
          </a:p>
          <a:p>
            <a:pPr algn="just"/>
            <a:r>
              <a:rPr lang="en-US" sz="1800" dirty="0">
                <a:solidFill>
                  <a:srgbClr val="222222"/>
                </a:solidFill>
              </a:rPr>
              <a:t>Compare four models: Logistic Regression, custom MLP, </a:t>
            </a:r>
            <a:r>
              <a:rPr lang="en-US" sz="1800" dirty="0" err="1">
                <a:solidFill>
                  <a:srgbClr val="222222"/>
                </a:solidFill>
              </a:rPr>
              <a:t>CatBoost</a:t>
            </a:r>
            <a:r>
              <a:rPr lang="en-US" sz="1800" dirty="0">
                <a:solidFill>
                  <a:srgbClr val="222222"/>
                </a:solidFill>
              </a:rPr>
              <a:t>, </a:t>
            </a:r>
            <a:r>
              <a:rPr lang="en-US" sz="1800" dirty="0" err="1">
                <a:solidFill>
                  <a:srgbClr val="222222"/>
                </a:solidFill>
              </a:rPr>
              <a:t>XGBoost</a:t>
            </a:r>
            <a:r>
              <a:rPr lang="en-US" sz="1800" dirty="0">
                <a:solidFill>
                  <a:srgbClr val="222222"/>
                </a:solidFill>
              </a:rPr>
              <a:t> (matched preprocessing for fair comparison).</a:t>
            </a:r>
          </a:p>
          <a:p>
            <a:pPr algn="just"/>
            <a:r>
              <a:rPr lang="en-US" sz="1800" dirty="0">
                <a:solidFill>
                  <a:srgbClr val="222222"/>
                </a:solidFill>
              </a:rPr>
              <a:t>Tune decision threshold on validation (max F1) - apply once to test.</a:t>
            </a:r>
          </a:p>
          <a:p>
            <a:pPr algn="just"/>
            <a:r>
              <a:rPr lang="en-US" sz="1800" dirty="0">
                <a:solidFill>
                  <a:srgbClr val="222222"/>
                </a:solidFill>
              </a:rPr>
              <a:t>Cost-aware analysis: sweep threshold under FN=$1500 / FP=$50 cost, with and without 20% capacity constraint.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E34376C-04F1-2DAB-1A5E-031C486CBB25}"/>
              </a:ext>
            </a:extLst>
          </p:cNvPr>
          <p:cNvSpPr/>
          <p:nvPr/>
        </p:nvSpPr>
        <p:spPr>
          <a:xfrm>
            <a:off x="1834896" y="17014242"/>
            <a:ext cx="14839766" cy="2281964"/>
          </a:xfrm>
          <a:prstGeom prst="roundRect">
            <a:avLst>
              <a:gd name="adj" fmla="val 7823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C519325-7743-4DE7-7213-55E7590906EC}"/>
              </a:ext>
            </a:extLst>
          </p:cNvPr>
          <p:cNvSpPr txBox="1"/>
          <p:nvPr/>
        </p:nvSpPr>
        <p:spPr>
          <a:xfrm>
            <a:off x="2286000" y="17335500"/>
            <a:ext cx="13944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rgbClr val="222222"/>
                </a:solidFill>
              </a:rPr>
              <a:t>Custom MLP - course requirement (no pretrained / foundation models):</a:t>
            </a:r>
          </a:p>
          <a:p>
            <a:r>
              <a:rPr lang="en-IN" sz="1800" dirty="0">
                <a:solidFill>
                  <a:srgbClr val="222222"/>
                </a:solidFill>
              </a:rPr>
              <a:t> Input (45 one-hot features) -&gt; Linear(128) -&gt; </a:t>
            </a:r>
            <a:r>
              <a:rPr lang="en-IN" sz="1800" dirty="0" err="1">
                <a:solidFill>
                  <a:srgbClr val="222222"/>
                </a:solidFill>
              </a:rPr>
              <a:t>ReLU</a:t>
            </a:r>
            <a:r>
              <a:rPr lang="en-IN" sz="1800" dirty="0">
                <a:solidFill>
                  <a:srgbClr val="222222"/>
                </a:solidFill>
              </a:rPr>
              <a:t> -&gt; Dropout(0.2)  -&gt; Linear( 64) -&gt; </a:t>
            </a:r>
            <a:r>
              <a:rPr lang="en-IN" sz="1800" dirty="0" err="1">
                <a:solidFill>
                  <a:srgbClr val="222222"/>
                </a:solidFill>
              </a:rPr>
              <a:t>ReLU</a:t>
            </a:r>
            <a:r>
              <a:rPr lang="en-IN" sz="1800" dirty="0">
                <a:solidFill>
                  <a:srgbClr val="222222"/>
                </a:solidFill>
              </a:rPr>
              <a:t> -&gt; Dropout(0.2) -&gt; Linear(1)</a:t>
            </a:r>
          </a:p>
          <a:p>
            <a:endParaRPr lang="en-IN" sz="1800" dirty="0">
              <a:solidFill>
                <a:srgbClr val="222222"/>
              </a:solidFill>
            </a:endParaRPr>
          </a:p>
          <a:p>
            <a:r>
              <a:rPr lang="en-IN" sz="1800" dirty="0">
                <a:solidFill>
                  <a:srgbClr val="222222"/>
                </a:solidFill>
              </a:rPr>
              <a:t>Loss: </a:t>
            </a:r>
            <a:r>
              <a:rPr lang="en-IN" sz="1800" dirty="0" err="1">
                <a:solidFill>
                  <a:srgbClr val="222222"/>
                </a:solidFill>
              </a:rPr>
              <a:t>BCEWithLogitsLoss</a:t>
            </a:r>
            <a:r>
              <a:rPr lang="en-IN" sz="1800" dirty="0">
                <a:solidFill>
                  <a:srgbClr val="222222"/>
                </a:solidFill>
              </a:rPr>
              <a:t> with </a:t>
            </a:r>
            <a:r>
              <a:rPr lang="en-IN" sz="1800" dirty="0" err="1">
                <a:solidFill>
                  <a:srgbClr val="222222"/>
                </a:solidFill>
              </a:rPr>
              <a:t>pos_weight</a:t>
            </a:r>
            <a:r>
              <a:rPr lang="en-IN" sz="1800" dirty="0">
                <a:solidFill>
                  <a:srgbClr val="222222"/>
                </a:solidFill>
              </a:rPr>
              <a:t> = neg / </a:t>
            </a:r>
            <a:r>
              <a:rPr lang="en-IN" sz="1800" dirty="0" err="1">
                <a:solidFill>
                  <a:srgbClr val="222222"/>
                </a:solidFill>
              </a:rPr>
              <a:t>pos</a:t>
            </a:r>
            <a:r>
              <a:rPr lang="en-IN" sz="1800" dirty="0">
                <a:solidFill>
                  <a:srgbClr val="222222"/>
                </a:solidFill>
              </a:rPr>
              <a:t> to balance churn class.</a:t>
            </a:r>
          </a:p>
          <a:p>
            <a:r>
              <a:rPr lang="en-IN" sz="1800" dirty="0">
                <a:solidFill>
                  <a:srgbClr val="222222"/>
                </a:solidFill>
              </a:rPr>
              <a:t>Optimizer: Adam (</a:t>
            </a:r>
            <a:r>
              <a:rPr lang="en-IN" sz="1800" dirty="0" err="1">
                <a:solidFill>
                  <a:srgbClr val="222222"/>
                </a:solidFill>
              </a:rPr>
              <a:t>lr</a:t>
            </a:r>
            <a:r>
              <a:rPr lang="en-IN" sz="1800" dirty="0">
                <a:solidFill>
                  <a:srgbClr val="222222"/>
                </a:solidFill>
              </a:rPr>
              <a:t> 1e-3, </a:t>
            </a:r>
            <a:r>
              <a:rPr lang="en-IN" sz="1800" dirty="0" err="1">
                <a:solidFill>
                  <a:srgbClr val="222222"/>
                </a:solidFill>
              </a:rPr>
              <a:t>weight_decay</a:t>
            </a:r>
            <a:r>
              <a:rPr lang="en-IN" sz="1800" dirty="0">
                <a:solidFill>
                  <a:srgbClr val="222222"/>
                </a:solidFill>
              </a:rPr>
              <a:t> 1e-4); early stopping (patience 30) on validation BCE.</a:t>
            </a:r>
          </a:p>
          <a:p>
            <a:r>
              <a:rPr lang="en-IN" sz="1800" dirty="0">
                <a:solidFill>
                  <a:srgbClr val="222222"/>
                </a:solidFill>
              </a:rPr>
              <a:t>Boosted trees: grid search over depth / </a:t>
            </a:r>
            <a:r>
              <a:rPr lang="en-IN" sz="1800" dirty="0" err="1">
                <a:solidFill>
                  <a:srgbClr val="222222"/>
                </a:solidFill>
              </a:rPr>
              <a:t>lr</a:t>
            </a:r>
            <a:r>
              <a:rPr lang="en-IN" sz="1800" dirty="0">
                <a:solidFill>
                  <a:srgbClr val="222222"/>
                </a:solidFill>
              </a:rPr>
              <a:t> / l2 / iterations; selection criterion = validation PR-AUC.</a:t>
            </a:r>
          </a:p>
        </p:txBody>
      </p:sp>
      <p:pic>
        <p:nvPicPr>
          <p:cNvPr id="49" name="Picture 48" descr="cost_curve.png">
            <a:extLst>
              <a:ext uri="{FF2B5EF4-FFF2-40B4-BE49-F238E27FC236}">
                <a16:creationId xmlns:a16="http://schemas.microsoft.com/office/drawing/2014/main" id="{80A8659C-409E-DD78-A89A-06BE2732D2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2999" y="20071004"/>
            <a:ext cx="14838956" cy="9905003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39A70AEB-2352-AD9F-0BDB-B18B33FE5978}"/>
              </a:ext>
            </a:extLst>
          </p:cNvPr>
          <p:cNvSpPr txBox="1"/>
          <p:nvPr/>
        </p:nvSpPr>
        <p:spPr>
          <a:xfrm>
            <a:off x="1813034" y="30480762"/>
            <a:ext cx="148397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22222"/>
                </a:solidFill>
              </a:rPr>
              <a:t>Net business value vs threshold - all four models converge to ~$370K / 1,000 customers</a:t>
            </a:r>
          </a:p>
        </p:txBody>
      </p:sp>
    </p:spTree>
    <p:extLst>
      <p:ext uri="{BB962C8B-B14F-4D97-AF65-F5344CB8AC3E}">
        <p14:creationId xmlns:p14="http://schemas.microsoft.com/office/powerpoint/2010/main" val="499407632"/>
      </p:ext>
    </p:extLst>
  </p:cSld>
  <p:clrMapOvr>
    <a:masterClrMapping/>
  </p:clrMapOvr>
</p:sld>
</file>

<file path=ppt/theme/theme1.xml><?xml version="1.0" encoding="utf-8"?>
<a:theme xmlns:a="http://schemas.openxmlformats.org/drawingml/2006/main" name="NCState-Presentation-36x48">
  <a:themeElements>
    <a:clrScheme name="NC State Colors">
      <a:dk1>
        <a:srgbClr val="1A1718"/>
      </a:dk1>
      <a:lt1>
        <a:sysClr val="window" lastClr="FFFFFF"/>
      </a:lt1>
      <a:dk2>
        <a:srgbClr val="313133"/>
      </a:dk2>
      <a:lt2>
        <a:srgbClr val="DFE0E1"/>
      </a:lt2>
      <a:accent1>
        <a:srgbClr val="D7002A"/>
      </a:accent1>
      <a:accent2>
        <a:srgbClr val="175AA3"/>
      </a:accent2>
      <a:accent3>
        <a:srgbClr val="ACB519"/>
      </a:accent3>
      <a:accent4>
        <a:srgbClr val="B4001C"/>
      </a:accent4>
      <a:accent5>
        <a:srgbClr val="FFE04C"/>
      </a:accent5>
      <a:accent6>
        <a:srgbClr val="E0703C"/>
      </a:accent6>
      <a:hlink>
        <a:srgbClr val="4299B7"/>
      </a:hlink>
      <a:folHlink>
        <a:srgbClr val="175AA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B68B94EE-C93F-44B0-B0EA-331121112AF1}" vid="{52936D81-9774-46E2-A1BE-EFCE3581B9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Props1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6F2769-7194-4217-93D3-3AF3A4742282}">
  <ds:schemaRefs>
    <ds:schemaRef ds:uri="http://schemas.microsoft.com/office/2006/metadata/properties"/>
    <ds:schemaRef ds:uri="http://schemas.microsoft.com/office/infopath/2007/PartnerControls"/>
    <ds:schemaRef ds:uri="http://schemas.microsoft.com/sharepoint/v3/field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Poster Template</Template>
  <TotalTime>206</TotalTime>
  <Words>1021</Words>
  <Application>Microsoft Office PowerPoint</Application>
  <PresentationFormat>Custom</PresentationFormat>
  <Paragraphs>107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NCState-Presentation-36x48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 Vathsa Kashyap</dc:creator>
  <cp:lastModifiedBy>Sree Vathsa Kashyap</cp:lastModifiedBy>
  <cp:revision>3</cp:revision>
  <dcterms:created xsi:type="dcterms:W3CDTF">2026-04-29T18:04:57Z</dcterms:created>
  <dcterms:modified xsi:type="dcterms:W3CDTF">2026-04-29T21:31:41Z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
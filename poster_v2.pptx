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67" autoAdjust="0"/>
    <p:restoredTop sz="94674"/>
  </p:normalViewPr>
  <p:slideViewPr>
    <p:cSldViewPr snapToGrid="0" snapToObjects="1">
      <p:cViewPr varScale="1">
        <p:scale>
          <a:sx n="28" d="100"/>
          <a:sy n="28" d="100"/>
        </p:scale>
        <p:origin x="234" y="888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2677C8-0A3A-6248-DC54-E64AD55AC974}"/>
              </a:ext>
            </a:extLst>
          </p:cNvPr>
          <p:cNvSpPr/>
          <p:nvPr/>
        </p:nvSpPr>
        <p:spPr>
          <a:xfrm>
            <a:off x="1371600" y="5219335"/>
            <a:ext cx="14593417" cy="2768746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99F4FE-0A64-DBEC-BA43-7B3C99A1335F}"/>
              </a:ext>
            </a:extLst>
          </p:cNvPr>
          <p:cNvSpPr/>
          <p:nvPr/>
        </p:nvSpPr>
        <p:spPr>
          <a:xfrm>
            <a:off x="21945600" y="14327687"/>
            <a:ext cx="19458432" cy="13876001"/>
          </a:xfrm>
          <a:prstGeom prst="roundRect">
            <a:avLst>
              <a:gd name="adj" fmla="val 7823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wrap="square" lIns="438903" tIns="219451" rIns="438903" bIns="219451" rtlCol="0" anchor="ctr">
            <a:normAutofit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sz="7200" b="1">
                <a:solidFill>
                  <a:srgbClr val="222222"/>
                </a:solidFill>
              </a:rPr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9316700" y="4166072"/>
            <a:ext cx="22509292" cy="1066198"/>
          </a:xfrm>
          <a:prstGeom prst="rect">
            <a:avLst/>
          </a:prstGeom>
        </p:spPr>
        <p:txBody>
          <a:bodyPr vert="horz" wrap="square" lIns="438903" tIns="219451" rIns="438903" bIns="219451" rtlCol="0">
            <a:norm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0" dirty="0">
                <a:solidFill>
                  <a:srgbClr val="222222"/>
                </a:solidFill>
              </a:rPr>
              <a:t>Sree Vathsa Kashyap Mydugolam (</a:t>
            </a:r>
            <a:r>
              <a:rPr sz="2800" b="0" dirty="0" err="1">
                <a:solidFill>
                  <a:srgbClr val="222222"/>
                </a:solidFill>
              </a:rPr>
              <a:t>smydugo</a:t>
            </a:r>
            <a:r>
              <a:rPr sz="2800" b="0" dirty="0">
                <a:solidFill>
                  <a:srgbClr val="222222"/>
                </a:solidFill>
              </a:rPr>
              <a:t>)   |   Srinidhi Shivashankar (</a:t>
            </a:r>
            <a:r>
              <a:rPr sz="2800" b="0" dirty="0" err="1">
                <a:solidFill>
                  <a:srgbClr val="222222"/>
                </a:solidFill>
              </a:rPr>
              <a:t>sshivas</a:t>
            </a:r>
            <a:r>
              <a:rPr sz="2800" b="0" dirty="0">
                <a:solidFill>
                  <a:srgbClr val="222222"/>
                </a:solidFill>
              </a:rPr>
              <a:t>)   |   Deekshith Anantha (</a:t>
            </a:r>
            <a:r>
              <a:rPr sz="2800" b="0" dirty="0" err="1">
                <a:solidFill>
                  <a:srgbClr val="222222"/>
                </a:solidFill>
              </a:rPr>
              <a:t>dananth</a:t>
            </a:r>
            <a:r>
              <a:rPr sz="2800" b="0" dirty="0">
                <a:solidFill>
                  <a:srgbClr val="222222"/>
                </a:solidFill>
              </a:rPr>
              <a:t>)</a:t>
            </a:r>
          </a:p>
          <a:p>
            <a:pPr algn="ctr"/>
            <a:r>
              <a:rPr sz="2800" b="0" dirty="0">
                <a:solidFill>
                  <a:srgbClr val="222222"/>
                </a:solidFill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19" name="Rectangle 402"/>
          <p:cNvSpPr>
            <a:spLocks noChangeArrowheads="1"/>
          </p:cNvSpPr>
          <p:nvPr/>
        </p:nvSpPr>
        <p:spPr bwMode="auto">
          <a:xfrm>
            <a:off x="17778222" y="5203354"/>
            <a:ext cx="23625810" cy="774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5000"/>
              </a:lnSpc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Poster 60</a:t>
            </a: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F315326-F99F-E0BE-9855-D7D1D47F4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760" y="13809238"/>
            <a:ext cx="10186582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Evaluation Plan and Results</a:t>
            </a:r>
          </a:p>
        </p:txBody>
      </p:sp>
      <p:sp>
        <p:nvSpPr>
          <p:cNvPr id="9" name="Text Box 28">
            <a:extLst>
              <a:ext uri="{FF2B5EF4-FFF2-40B4-BE49-F238E27FC236}">
                <a16:creationId xmlns:a16="http://schemas.microsoft.com/office/drawing/2014/main" id="{28F98357-9DB3-2431-1460-63CC79FB7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600" y="29089482"/>
            <a:ext cx="6285142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Main References</a:t>
            </a:r>
          </a:p>
        </p:txBody>
      </p:sp>
      <p:sp>
        <p:nvSpPr>
          <p:cNvPr id="10" name="Text Box 365">
            <a:extLst>
              <a:ext uri="{FF2B5EF4-FFF2-40B4-BE49-F238E27FC236}">
                <a16:creationId xmlns:a16="http://schemas.microsoft.com/office/drawing/2014/main" id="{AFAD4D65-09F2-E034-52AE-59560B5D5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5600" y="30381409"/>
            <a:ext cx="18797016" cy="84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>
              <a:lnSpc>
                <a:spcPct val="105000"/>
              </a:lnSpc>
              <a:buFont typeface="Wingdings" panose="05000000000000000000" pitchFamily="2" charset="2"/>
              <a:buChar char="§"/>
            </a:pPr>
            <a:r>
              <a:rPr sz="1600" b="0">
                <a:solidFill>
                  <a:srgbClr val="222222"/>
                </a:solidFill>
              </a:rPr>
              <a:t>[1] Verbeke, W. et al. (2012). New insights into churn prediction in telecommunications. Eur. J. Operational Research, 218(1), 211-229.</a:t>
            </a:r>
          </a:p>
          <a:p>
            <a:r>
              <a:rPr sz="1600" b="0">
                <a:solidFill>
                  <a:srgbClr val="222222"/>
                </a:solidFill>
              </a:rPr>
              <a:t>[2] Prokhorenkova, L. et al. (2018). CatBoost: unbiased boosting with categorical features. NeurIPS.</a:t>
            </a:r>
          </a:p>
          <a:p>
            <a:r>
              <a:rPr sz="1600" b="0">
                <a:solidFill>
                  <a:srgbClr val="222222"/>
                </a:solidFill>
              </a:rPr>
              <a:t>[3] Chen, T. &amp; Guestrin, C. (2016). XGBoost: a scalable tree-boosting system. KDD.</a:t>
            </a:r>
          </a:p>
          <a:p>
            <a:r>
              <a:rPr sz="1600" b="0">
                <a:solidFill>
                  <a:srgbClr val="222222"/>
                </a:solidFill>
              </a:rPr>
              <a:t>Dataset: IBM Telco Customer Churn (Kaggle: blastchar/telco-customer-churn).   Acknowledgements: Dr. Edgar Lobaton (instructor, ECE 525).</a:t>
            </a: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752C864B-C443-2C38-80A0-409876B42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496" y="4711503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Problem Statement</a:t>
            </a:r>
          </a:p>
        </p:txBody>
      </p:sp>
      <p:sp>
        <p:nvSpPr>
          <p:cNvPr id="14" name="Text Box 28">
            <a:extLst>
              <a:ext uri="{FF2B5EF4-FFF2-40B4-BE49-F238E27FC236}">
                <a16:creationId xmlns:a16="http://schemas.microsoft.com/office/drawing/2014/main" id="{8C8C0813-9EA5-F858-0432-FC0555A4C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9197453"/>
            <a:ext cx="3145702" cy="1006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Data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DB5C43BF-EDF5-3B14-6146-914BE0032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12096719"/>
            <a:ext cx="4498848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Approach</a:t>
            </a:r>
          </a:p>
        </p:txBody>
      </p:sp>
      <p:sp>
        <p:nvSpPr>
          <p:cNvPr id="26" name="Text Box 28">
            <a:extLst>
              <a:ext uri="{FF2B5EF4-FFF2-40B4-BE49-F238E27FC236}">
                <a16:creationId xmlns:a16="http://schemas.microsoft.com/office/drawing/2014/main" id="{BECF2EF8-A8A6-A1A6-CD2C-98CFA7572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94" y="14833653"/>
            <a:ext cx="7613904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defTabSz="4806950">
              <a:defRPr>
                <a:solidFill>
                  <a:schemeClr val="tx1"/>
                </a:solidFill>
                <a:latin typeface="Arial" charset="0"/>
              </a:defRPr>
            </a:lvl1pPr>
            <a:lvl2pPr algn="l" defTabSz="4806950">
              <a:defRPr>
                <a:solidFill>
                  <a:schemeClr val="tx1"/>
                </a:solidFill>
                <a:latin typeface="Arial" charset="0"/>
              </a:defRPr>
            </a:lvl2pPr>
            <a:lvl3pPr algn="l" defTabSz="4806950">
              <a:defRPr>
                <a:solidFill>
                  <a:schemeClr val="tx1"/>
                </a:solidFill>
                <a:latin typeface="Arial" charset="0"/>
              </a:defRPr>
            </a:lvl3pPr>
            <a:lvl4pPr algn="l" defTabSz="4806950">
              <a:defRPr>
                <a:solidFill>
                  <a:schemeClr val="tx1"/>
                </a:solidFill>
                <a:latin typeface="Arial" charset="0"/>
              </a:defRPr>
            </a:lvl4pPr>
            <a:lvl5pPr algn="l" defTabSz="4806950">
              <a:defRPr>
                <a:solidFill>
                  <a:schemeClr val="tx1"/>
                </a:solidFill>
                <a:latin typeface="Arial" charset="0"/>
              </a:defRPr>
            </a:lvl5pPr>
            <a:lvl6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48069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6000" dirty="0">
                <a:latin typeface="+mj-lt"/>
                <a:ea typeface="宋体" charset="-122"/>
              </a:rPr>
              <a:t>Network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ECE 525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82496" y="5669280"/>
            <a:ext cx="15179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222222"/>
                </a:solidFill>
              </a:rPr>
              <a:t>Customer churn is one of the most expensive problems in telecom: acquiring a new customer costs 5-7 times more than retaining one.</a:t>
            </a:r>
          </a:p>
          <a:p>
            <a:endParaRPr sz="2400" b="0" dirty="0">
              <a:solidFill>
                <a:srgbClr val="222222"/>
              </a:solidFill>
            </a:endParaRPr>
          </a:p>
          <a:p>
            <a:r>
              <a:rPr sz="2400" b="0" dirty="0">
                <a:solidFill>
                  <a:srgbClr val="222222"/>
                </a:solidFill>
              </a:rPr>
              <a:t>Two challenges make it hard:</a:t>
            </a:r>
          </a:p>
          <a:p>
            <a:r>
              <a:rPr sz="2400" b="0" dirty="0">
                <a:solidFill>
                  <a:srgbClr val="222222"/>
                </a:solidFill>
              </a:rPr>
              <a:t>  - Imbalanced labels - only 26% of customers actually churn, so accuracy is misleading.</a:t>
            </a:r>
          </a:p>
          <a:p>
            <a:r>
              <a:rPr sz="2400" b="0" dirty="0">
                <a:solidFill>
                  <a:srgbClr val="222222"/>
                </a:solidFill>
              </a:rPr>
              <a:t>  - Asymmetric cost - missing a churner ($1500 lost LTV) is ~30x worse than a false alarm ($50 retention call).</a:t>
            </a:r>
          </a:p>
          <a:p>
            <a:endParaRPr sz="2400" b="0" dirty="0">
              <a:solidFill>
                <a:srgbClr val="222222"/>
              </a:solidFill>
            </a:endParaRPr>
          </a:p>
          <a:p>
            <a:r>
              <a:rPr sz="2400" b="0" dirty="0">
                <a:solidFill>
                  <a:srgbClr val="222222"/>
                </a:solidFill>
              </a:rPr>
              <a:t>Goal: predict churn probability AND tie it to dollar value via cost-aware threshold tuning - not just maximize a metric.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2496" y="10104120"/>
            <a:ext cx="15179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222222"/>
                </a:solidFill>
              </a:rPr>
              <a:t>IBM Telco Customer Churn (Kaggle): 7,032 customers x 19 features.</a:t>
            </a:r>
          </a:p>
          <a:p>
            <a:r>
              <a:rPr sz="2400" b="0" dirty="0">
                <a:solidFill>
                  <a:srgbClr val="222222"/>
                </a:solidFill>
              </a:rPr>
              <a:t>Demographics, contract, services, monthly + total charges. Target: Churn (Yes / No).</a:t>
            </a:r>
          </a:p>
          <a:p>
            <a:r>
              <a:rPr sz="2400" b="0" dirty="0">
                <a:solidFill>
                  <a:srgbClr val="222222"/>
                </a:solidFill>
              </a:rPr>
              <a:t>Class balance: 5,163 stayed (73.4%) vs 1,869 churned (26.6%) - 1:2.76 minority ratio.</a:t>
            </a:r>
          </a:p>
          <a:p>
            <a:r>
              <a:rPr sz="2400" b="0" dirty="0">
                <a:solidFill>
                  <a:srgbClr val="222222"/>
                </a:solidFill>
              </a:rPr>
              <a:t>Strongest signals: Month-to-month contract -&gt; 43% churn (vs 3% for 2-year); Fiber-optic -&gt; 42% (vs 19% DSL); Electronic-check payment -&gt; 45%; short tenure dominates churners.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12984480"/>
            <a:ext cx="1517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222222"/>
                </a:solidFill>
              </a:rPr>
              <a:t>Stratified 70 / 15 / 15 train-validation-test split. </a:t>
            </a:r>
            <a:r>
              <a:rPr sz="2400" b="0" dirty="0" err="1">
                <a:solidFill>
                  <a:srgbClr val="222222"/>
                </a:solidFill>
              </a:rPr>
              <a:t>StandardScaler</a:t>
            </a:r>
            <a:r>
              <a:rPr sz="2400" b="0" dirty="0">
                <a:solidFill>
                  <a:srgbClr val="222222"/>
                </a:solidFill>
              </a:rPr>
              <a:t> fit on training fold ONLY (no leakage).</a:t>
            </a:r>
          </a:p>
          <a:p>
            <a:r>
              <a:rPr sz="2400" b="0" dirty="0">
                <a:solidFill>
                  <a:srgbClr val="222222"/>
                </a:solidFill>
              </a:rPr>
              <a:t>Compare four models: Logistic Regression, custom MLP, </a:t>
            </a:r>
            <a:r>
              <a:rPr sz="2400" b="0" dirty="0" err="1">
                <a:solidFill>
                  <a:srgbClr val="222222"/>
                </a:solidFill>
              </a:rPr>
              <a:t>CatBoost</a:t>
            </a:r>
            <a:r>
              <a:rPr sz="2400" b="0" dirty="0">
                <a:solidFill>
                  <a:srgbClr val="222222"/>
                </a:solidFill>
              </a:rPr>
              <a:t>, </a:t>
            </a:r>
            <a:r>
              <a:rPr sz="2400" b="0" dirty="0" err="1">
                <a:solidFill>
                  <a:srgbClr val="222222"/>
                </a:solidFill>
              </a:rPr>
              <a:t>XGBoost</a:t>
            </a:r>
            <a:r>
              <a:rPr sz="2400" b="0" dirty="0">
                <a:solidFill>
                  <a:srgbClr val="222222"/>
                </a:solidFill>
              </a:rPr>
              <a:t> (matched preprocessing for fair comparison).</a:t>
            </a:r>
          </a:p>
          <a:p>
            <a:r>
              <a:rPr sz="2400" b="0" dirty="0">
                <a:solidFill>
                  <a:srgbClr val="222222"/>
                </a:solidFill>
              </a:rPr>
              <a:t>Tune decision threshold on validation (max F1) - apply once to test.</a:t>
            </a:r>
          </a:p>
          <a:p>
            <a:r>
              <a:rPr sz="2400" b="0" dirty="0">
                <a:solidFill>
                  <a:srgbClr val="222222"/>
                </a:solidFill>
              </a:rPr>
              <a:t>Cost-aware analysis: sweep threshold under FN=$1500 / FP=$50 cost, with and without 20% capacity constraint.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15681959"/>
            <a:ext cx="1517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222222"/>
                </a:solidFill>
              </a:rPr>
              <a:t>Custom MLP - course requirement (no pretrained / foundation models):</a:t>
            </a:r>
          </a:p>
          <a:p>
            <a:r>
              <a:rPr sz="2400" b="0" dirty="0">
                <a:solidFill>
                  <a:srgbClr val="222222"/>
                </a:solidFill>
              </a:rPr>
              <a:t>  Input (45 one-hot features) -&gt; Linear(128) -&gt; </a:t>
            </a:r>
            <a:r>
              <a:rPr sz="2400" b="0" dirty="0" err="1">
                <a:solidFill>
                  <a:srgbClr val="222222"/>
                </a:solidFill>
              </a:rPr>
              <a:t>ReLU</a:t>
            </a:r>
            <a:r>
              <a:rPr sz="2400" b="0" dirty="0">
                <a:solidFill>
                  <a:srgbClr val="222222"/>
                </a:solidFill>
              </a:rPr>
              <a:t> -&gt; Dropout(0.2)</a:t>
            </a:r>
          </a:p>
          <a:p>
            <a:r>
              <a:rPr sz="2400" b="0" dirty="0">
                <a:solidFill>
                  <a:srgbClr val="222222"/>
                </a:solidFill>
              </a:rPr>
              <a:t>                              -&gt; Linear( 64) -&gt; </a:t>
            </a:r>
            <a:r>
              <a:rPr sz="2400" b="0" dirty="0" err="1">
                <a:solidFill>
                  <a:srgbClr val="222222"/>
                </a:solidFill>
              </a:rPr>
              <a:t>ReLU</a:t>
            </a:r>
            <a:r>
              <a:rPr sz="2400" b="0" dirty="0">
                <a:solidFill>
                  <a:srgbClr val="222222"/>
                </a:solidFill>
              </a:rPr>
              <a:t> -&gt; Dropout(0.2) -&gt; Linear(1)</a:t>
            </a:r>
          </a:p>
          <a:p>
            <a:endParaRPr sz="2400" b="0" dirty="0">
              <a:solidFill>
                <a:srgbClr val="222222"/>
              </a:solidFill>
            </a:endParaRPr>
          </a:p>
          <a:p>
            <a:r>
              <a:rPr sz="2400" b="0" dirty="0">
                <a:solidFill>
                  <a:srgbClr val="222222"/>
                </a:solidFill>
              </a:rPr>
              <a:t>Loss: </a:t>
            </a:r>
            <a:r>
              <a:rPr sz="2400" b="0" dirty="0" err="1">
                <a:solidFill>
                  <a:srgbClr val="222222"/>
                </a:solidFill>
              </a:rPr>
              <a:t>BCEWithLogitsLoss</a:t>
            </a:r>
            <a:r>
              <a:rPr sz="2400" b="0" dirty="0">
                <a:solidFill>
                  <a:srgbClr val="222222"/>
                </a:solidFill>
              </a:rPr>
              <a:t> with </a:t>
            </a:r>
            <a:r>
              <a:rPr sz="2400" b="0" dirty="0" err="1">
                <a:solidFill>
                  <a:srgbClr val="222222"/>
                </a:solidFill>
              </a:rPr>
              <a:t>pos_weight</a:t>
            </a:r>
            <a:r>
              <a:rPr sz="2400" b="0" dirty="0">
                <a:solidFill>
                  <a:srgbClr val="222222"/>
                </a:solidFill>
              </a:rPr>
              <a:t> = neg / pos to balance churn class.</a:t>
            </a:r>
          </a:p>
          <a:p>
            <a:r>
              <a:rPr sz="2400" b="0" dirty="0">
                <a:solidFill>
                  <a:srgbClr val="222222"/>
                </a:solidFill>
              </a:rPr>
              <a:t>Optimizer: Adam (</a:t>
            </a:r>
            <a:r>
              <a:rPr sz="2400" b="0" dirty="0" err="1">
                <a:solidFill>
                  <a:srgbClr val="222222"/>
                </a:solidFill>
              </a:rPr>
              <a:t>lr</a:t>
            </a:r>
            <a:r>
              <a:rPr sz="2400" b="0" dirty="0">
                <a:solidFill>
                  <a:srgbClr val="222222"/>
                </a:solidFill>
              </a:rPr>
              <a:t> 1e-3, </a:t>
            </a:r>
            <a:r>
              <a:rPr sz="2400" b="0" dirty="0" err="1">
                <a:solidFill>
                  <a:srgbClr val="222222"/>
                </a:solidFill>
              </a:rPr>
              <a:t>weight_decay</a:t>
            </a:r>
            <a:r>
              <a:rPr sz="2400" b="0" dirty="0">
                <a:solidFill>
                  <a:srgbClr val="222222"/>
                </a:solidFill>
              </a:rPr>
              <a:t> 1e-4); early stopping (patience 30) on validation BCE.</a:t>
            </a:r>
          </a:p>
          <a:p>
            <a:r>
              <a:rPr sz="2400" b="0" dirty="0">
                <a:solidFill>
                  <a:srgbClr val="222222"/>
                </a:solidFill>
              </a:rPr>
              <a:t>Boosted trees: grid search over depth / </a:t>
            </a:r>
            <a:r>
              <a:rPr sz="2400" b="0" dirty="0" err="1">
                <a:solidFill>
                  <a:srgbClr val="222222"/>
                </a:solidFill>
              </a:rPr>
              <a:t>lr</a:t>
            </a:r>
            <a:r>
              <a:rPr sz="2400" b="0" dirty="0">
                <a:solidFill>
                  <a:srgbClr val="222222"/>
                </a:solidFill>
              </a:rPr>
              <a:t> / l2 / iterations; selection criterion = validation PR-AUC.</a:t>
            </a:r>
          </a:p>
        </p:txBody>
      </p:sp>
      <p:pic>
        <p:nvPicPr>
          <p:cNvPr id="31" name="Picture 30" descr="cost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6" y="18649874"/>
            <a:ext cx="15489091" cy="103389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82496" y="29059632"/>
            <a:ext cx="154899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</a:rPr>
              <a:t>Net business value vs threshold - all four models converge to ~$370K / 1,000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13680" y="5349240"/>
            <a:ext cx="23134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dirty="0">
                <a:solidFill>
                  <a:srgbClr val="CC0000"/>
                </a:solidFill>
              </a:rPr>
              <a:t>Threshold tuning beats architecture: ~$370K net value per 1,000 customers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0" y="6903720"/>
            <a:ext cx="2313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Why cost-aware evaluation?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13680" y="7589520"/>
            <a:ext cx="23134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Default 0.5 threshold ignores both class imbalance and the asymmetric cost of being wrong.</a:t>
            </a:r>
          </a:p>
          <a:p>
            <a:r>
              <a:rPr sz="2200" b="0">
                <a:solidFill>
                  <a:srgbClr val="222222"/>
                </a:solidFill>
              </a:rPr>
              <a:t>We compute Net Value = TP * $1500 - FP * $50 across all thresholds and pick the optimum on validation only.</a:t>
            </a:r>
          </a:p>
          <a:p>
            <a:r>
              <a:rPr sz="2200" b="0">
                <a:solidFill>
                  <a:srgbClr val="222222"/>
                </a:solidFill>
              </a:rPr>
              <a:t>Result: every model recovers ~$370K of business value when tuned; choice of architecture changes this by &lt; 1%.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13680" y="10012680"/>
            <a:ext cx="2313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Counterfactual: from probability to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0" y="10698480"/>
            <a:ext cx="23134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Highest-risk customer (predicted churn = 0.93). Perturbing InternetService from</a:t>
            </a:r>
          </a:p>
          <a:p>
            <a:r>
              <a:rPr sz="2200" b="0">
                <a:solidFill>
                  <a:srgbClr val="222222"/>
                </a:solidFill>
              </a:rPr>
              <a:t>Fiber-optic -&gt; No internet drops the predicted churn probability to 0.82.</a:t>
            </a:r>
          </a:p>
          <a:p>
            <a:r>
              <a:rPr sz="2200" b="0">
                <a:solidFill>
                  <a:srgbClr val="222222"/>
                </a:solidFill>
              </a:rPr>
              <a:t>-&gt; The model points retention teams to a specific lever per customer, not just a binary alert.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2128480" y="14813280"/>
          <a:ext cx="19156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36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36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Brier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2000" b="1"/>
                        <a:t>CatBoost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0.624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0.841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0.642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0.139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0.768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0.526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2000"/>
                        <a:t>MLP (custom 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/>
                        <a:t>0.488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2128480" y="17236439"/>
            <a:ext cx="19156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</a:rPr>
              <a:t>Test metrics with validation-tuned threshold. CatBoost wins on F1 + Brier; XGBoost ties PR-AUC.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2128480" y="17739360"/>
          <a:ext cx="19156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Optimal threshold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20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$371,043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20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$370,616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2000"/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$370,142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2000"/>
                        <a:t>MLP (custom 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$368,910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2128480" y="19842480"/>
            <a:ext cx="19156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</a:rPr>
              <a:t>Cost-aware optima ($1500 FN / $50 FP). Architecture gap &lt; 1% - threshold dominates.</a:t>
            </a:r>
          </a:p>
        </p:txBody>
      </p:sp>
      <p:pic>
        <p:nvPicPr>
          <p:cNvPr id="42" name="Picture 41" descr="boosted_roc_pr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0" y="20345400"/>
            <a:ext cx="10536174" cy="4206240"/>
          </a:xfrm>
          <a:prstGeom prst="rect">
            <a:avLst/>
          </a:prstGeom>
        </p:spPr>
      </p:pic>
      <p:pic>
        <p:nvPicPr>
          <p:cNvPr id="43" name="Picture 42" descr="feature_importance_catbo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47787" y="20345400"/>
            <a:ext cx="8237372" cy="42062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2128480" y="24688800"/>
            <a:ext cx="19156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222"/>
                </a:solidFill>
              </a:rPr>
              <a:t>Findings:</a:t>
            </a:r>
          </a:p>
          <a:p>
            <a:r>
              <a:rPr sz="2200" b="0">
                <a:solidFill>
                  <a:srgbClr val="222222"/>
                </a:solidFill>
              </a:rPr>
              <a:t>  1. CatBoost is the strongest classifier (F1 0.624, ROC-AUC 0.841, lowest Brier 0.139).</a:t>
            </a:r>
          </a:p>
          <a:p>
            <a:r>
              <a:rPr sz="2200" b="0">
                <a:solidFill>
                  <a:srgbClr val="222222"/>
                </a:solidFill>
              </a:rPr>
              <a:t>  2. Custom MLP does NOT beat logistic regression - nonlinear capacity adds little on small one-hot tabular data.</a:t>
            </a:r>
          </a:p>
          <a:p>
            <a:r>
              <a:rPr sz="2200" b="0">
                <a:solidFill>
                  <a:srgbClr val="222222"/>
                </a:solidFill>
              </a:rPr>
              <a:t>  3. Cost-aware threshold tuning recovers ~$370K / 1,000 customers across all 4 models; architecture gap &lt; 1%.</a:t>
            </a:r>
          </a:p>
          <a:p>
            <a:r>
              <a:rPr sz="2200" b="0">
                <a:solidFill>
                  <a:srgbClr val="222222"/>
                </a:solidFill>
              </a:rPr>
              <a:t>  4. CatBoost importance + counterfactual map model output to specific retention actions (contract upgrade, internet downgrade).</a:t>
            </a:r>
          </a:p>
          <a:p>
            <a:r>
              <a:rPr sz="2200" b="0">
                <a:solidFill>
                  <a:srgbClr val="222222"/>
                </a:solidFill>
              </a:rPr>
              <a:t>Next steps: stacking ensemble; cost-sensitive loss inside MLP training; live A/B test of threshold; monthly recalibration.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883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J Lobaton</dc:creator>
  <cp:lastModifiedBy>Sree Vathsa Kashyap</cp:lastModifiedBy>
  <cp:revision>2</cp:revision>
  <dcterms:created xsi:type="dcterms:W3CDTF">2026-04-10T11:00:13Z</dcterms:created>
  <dcterms:modified xsi:type="dcterms:W3CDTF">2026-04-29T21:31:53Z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
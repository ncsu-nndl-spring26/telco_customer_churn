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/>
  </p:normalViewPr>
  <p:slideViewPr>
    <p:cSldViewPr snapToGrid="0" snapToObjects="1">
      <p:cViewPr>
        <p:scale>
          <a:sx n="33" d="100"/>
          <a:sy n="33" d="100"/>
        </p:scale>
        <p:origin x="4242" y="354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32268" y="4099648"/>
            <a:ext cx="22087332" cy="1223710"/>
          </a:xfrm>
          <a:prstGeom prst="rect">
            <a:avLst/>
          </a:prstGeom>
        </p:spPr>
        <p:txBody>
          <a:bodyPr vert="horz" lIns="438903" tIns="219451" rIns="438903" bIns="219451" rtlCol="0">
            <a:no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Sree Vathsa Kashyap Mydugolam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smydugo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 |   Srinidhi Shivashankar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sshivas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 |   Deekshith Anantha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dananth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9159495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NNDL.39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ID : ECE525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0" y="5212080"/>
            <a:ext cx="16459200" cy="9875520"/>
          </a:xfrm>
          <a:prstGeom prst="rect">
            <a:avLst/>
          </a:prstGeom>
          <a:solidFill>
            <a:srgbClr val="E2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716000" y="5212080"/>
            <a:ext cx="16459200" cy="1097280"/>
          </a:xfrm>
          <a:prstGeom prst="rect">
            <a:avLst/>
          </a:prstGeom>
          <a:solidFill>
            <a:srgbClr val="B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3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 Data &amp; EDA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0" y="6446520"/>
            <a:ext cx="15727680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 IBM Telco Customer Churn  (Kaggle)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81760" y="6949440"/>
            <a:ext cx="15727680" cy="65876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7,032 customers x 19 features after cleaning (11 dropped for invalid TotalCharges).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Demographics, tenure, contract, services (phone/internet/security/streaming), monthly + total charges.   Target: Churn (Yes/No).</a:t>
            </a:r>
          </a:p>
        </p:txBody>
      </p:sp>
      <p:pic>
        <p:nvPicPr>
          <p:cNvPr id="24" name="Picture 23" descr="eda_01_class_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1327" y="8366760"/>
            <a:ext cx="4726491" cy="3749039"/>
          </a:xfrm>
          <a:prstGeom prst="rect">
            <a:avLst/>
          </a:prstGeom>
        </p:spPr>
      </p:pic>
      <p:pic>
        <p:nvPicPr>
          <p:cNvPr id="25" name="Picture 24" descr="eda_02_churn_by_contr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99184" y="8366760"/>
            <a:ext cx="5681336" cy="374903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081760" y="12207240"/>
            <a:ext cx="15727680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data tells 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0" y="12710160"/>
            <a:ext cx="15727680" cy="13478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Imbalanced class:  5,163 stayed (73.4%)  vs  1,869 churned (26.6%)  --  ratio 1 : 2.76.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Contract dominates:  month-to-month 43%  vs  2-year 3%  --  a 14x gap.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Tenure:  churners cluster heavily in the first 12 months.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Service:  fiber 42%  vs  DSL 19%;   electronic-check 45%  vs  auto-pay &lt;20%.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540960" y="5212080"/>
            <a:ext cx="12984480" cy="9875520"/>
          </a:xfrm>
          <a:prstGeom prst="rect">
            <a:avLst/>
          </a:prstGeom>
          <a:solidFill>
            <a:srgbClr val="E8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0540960" y="5212080"/>
            <a:ext cx="12984480" cy="1097280"/>
          </a:xfrm>
          <a:prstGeom prst="rect">
            <a:avLst/>
          </a:prstGeom>
          <a:solidFill>
            <a:srgbClr val="C4D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3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C.  Methodology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906719" y="6400800"/>
            <a:ext cx="12252960" cy="340216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 disciplined pipeline -- so differences come from architecture, not preprocessing.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906719" y="7269480"/>
            <a:ext cx="1225296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CSV  (7,032 customers)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36905184" y="7726679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0906719" y="7891271"/>
            <a:ext cx="122529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 +  one-hot encode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6905184" y="8394192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0906719" y="8558784"/>
            <a:ext cx="12252960" cy="59436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Stratified split  70 / 15 / 15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Fit StandardScaler on TRAIN only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36905184" y="9153144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30906719" y="9317736"/>
            <a:ext cx="29946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992820" y="9317736"/>
            <a:ext cx="29946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078920" y="9317736"/>
            <a:ext cx="29946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165020" y="9317736"/>
            <a:ext cx="299466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</a:t>
            </a:r>
            <a:br>
              <a: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Boost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36905184" y="9820656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0906719" y="9985248"/>
            <a:ext cx="12252960" cy="457200"/>
          </a:xfrm>
          <a:prstGeom prst="roundRect">
            <a:avLst/>
          </a:prstGeom>
          <a:solidFill>
            <a:srgbClr val="FFF8DC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Tune threshold on VAL  (max F1)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36905184" y="10442448"/>
            <a:ext cx="256032" cy="164592"/>
          </a:xfrm>
          <a:prstGeom prst="down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30906719" y="10607040"/>
            <a:ext cx="12252960" cy="457200"/>
          </a:xfrm>
          <a:prstGeom prst="roundRect">
            <a:avLst/>
          </a:prstGeom>
          <a:solidFill>
            <a:srgbClr val="C4D5B5"/>
          </a:solidFill>
          <a:ln w="9525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0000" tIns="30000" rIns="60000" bIns="30000" rtlCol="0" anchor="ctr"/>
          <a:lstStyle/>
          <a:p>
            <a:pPr algn="ctr"/>
            <a:r>
              <a:rPr sz="1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metrics  +  Cost analysis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906719" y="11228832"/>
            <a:ext cx="12252960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each 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906719" y="11686032"/>
            <a:ext cx="12252960" cy="134780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Stratified split:  preserves the 26.6% churn rate in every fold.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Train-only scaling:  prevents test-set leakage into training.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 tuning:  default 0.5 is arbitrary on imbalanced data.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Brier + PR-AUC:  measure calibration and minority-class ranking.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15270480"/>
            <a:ext cx="21396960" cy="10789920"/>
          </a:xfrm>
          <a:prstGeom prst="rect">
            <a:avLst/>
          </a:prstGeom>
          <a:solidFill>
            <a:srgbClr val="F6E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65760" y="15270480"/>
            <a:ext cx="21396960" cy="1097280"/>
          </a:xfrm>
          <a:prstGeom prst="rect">
            <a:avLst/>
          </a:prstGeom>
          <a:solidFill>
            <a:srgbClr val="E6D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40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D.  Results -- Model Comparison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16550639"/>
            <a:ext cx="20665440" cy="65876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four models trained on identical features and splits, scored on test with a validation-tuned threshold (max F1).</a:t>
            </a:r>
          </a:p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Brier captures calibration:  do predicted probabilities match observed churn rates? Lower is better.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731520" y="17876519"/>
          <a:ext cx="20665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2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0.139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212529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>
                    <a:solidFill>
                      <a:srgbClr val="DCED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 dirty="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0.591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0.603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0.592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0.177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>
                          <a:solidFill>
                            <a:srgbClr val="212529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dirty="0">
                          <a:solidFill>
                            <a:srgbClr val="212529"/>
                          </a:solidFill>
                          <a:latin typeface="Calibri"/>
                        </a:rPr>
                        <a:t>0.488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731520" y="20116799"/>
            <a:ext cx="20665440" cy="65876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 dirty="0" err="1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CatBoost</a:t>
            </a:r>
            <a:r>
              <a:rPr sz="1800" b="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wins on F1, ROC-AUC, and Brier -- it ranks well AND its probabilities are calibrated.</a:t>
            </a:r>
          </a:p>
          <a:p>
            <a:pPr algn="l">
              <a:lnSpc>
                <a:spcPct val="115000"/>
              </a:lnSpc>
            </a:pPr>
            <a:r>
              <a:rPr sz="1800" b="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MLP does not beat logistic regression -- on small one-hot tabular data, a linear boundary is most of the signal.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7381" y="21442679"/>
            <a:ext cx="10153717" cy="41605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31520" y="25648920"/>
            <a:ext cx="2066544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ctr"/>
            <a:r>
              <a:rPr sz="1800" b="0" i="1" dirty="0">
                <a:solidFill>
                  <a:srgbClr val="5F6A7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 and Precision-Recall curves on test set.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128480" y="15270480"/>
            <a:ext cx="21396960" cy="10789920"/>
          </a:xfrm>
          <a:prstGeom prst="rect">
            <a:avLst/>
          </a:prstGeom>
          <a:solidFill>
            <a:srgbClr val="E5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2128480" y="15270480"/>
            <a:ext cx="21396960" cy="1097280"/>
          </a:xfrm>
          <a:prstGeom prst="rect">
            <a:avLst/>
          </a:prstGeom>
          <a:solidFill>
            <a:srgbClr val="BDC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40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  Cost-Aware Analysis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494239" y="16504919"/>
            <a:ext cx="20665440" cy="329829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Sweep threshold under realistic costs:  FN $1,500   FP $50.   Net Value = TP*$1500 - FP*$50.   Optimum chosen on validation.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329584"/>
              </p:ext>
            </p:extLst>
          </p:nvPr>
        </p:nvGraphicFramePr>
        <p:xfrm>
          <a:off x="22494239" y="17014956"/>
          <a:ext cx="185897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6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6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96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Net value / 1,000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$371,043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$370,616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12529"/>
                          </a:solidFill>
                          <a:latin typeface="Calibri"/>
                        </a:rPr>
                        <a:t>$370,142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12529"/>
                          </a:solidFill>
                          <a:latin typeface="Calibri"/>
                        </a:rPr>
                        <a:t>$368,910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" name="Rounded Rectangle 57"/>
          <p:cNvSpPr/>
          <p:nvPr/>
        </p:nvSpPr>
        <p:spPr>
          <a:xfrm>
            <a:off x="41193720" y="17014956"/>
            <a:ext cx="196596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6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000" tIns="50000" rIns="45000" bIns="50000" rtlCol="0" anchor="ctr"/>
          <a:lstStyle/>
          <a:p>
            <a:pPr algn="ctr"/>
            <a:r>
              <a:rPr lang="en-US" sz="1800" b="1" dirty="0">
                <a:solidFill>
                  <a:srgbClr val="1F6F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~ $370K</a:t>
            </a:r>
          </a:p>
          <a:p>
            <a:pPr algn="ctr"/>
            <a:r>
              <a:rPr lang="en-US" sz="1800" i="1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 business value per 1,000 customers when threshold is tuned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94239" y="18843756"/>
            <a:ext cx="20665440" cy="329829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1" dirty="0">
                <a:solidFill>
                  <a:srgbClr val="7B2D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Top-20% capacity constraint:  </a:t>
            </a:r>
            <a:r>
              <a:rPr sz="1800" b="0" i="1" dirty="0" err="1">
                <a:solidFill>
                  <a:srgbClr val="7B2D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CatBoost</a:t>
            </a:r>
            <a:r>
              <a:rPr sz="1800" b="0" i="1" dirty="0">
                <a:solidFill>
                  <a:srgbClr val="7B2D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still delivers $175,687 / 1,000 at threshold 0.54.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4450" y="19282668"/>
            <a:ext cx="9565018" cy="5678424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22494239" y="25052531"/>
            <a:ext cx="206654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2677119" y="25098252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COUNTERFACTUAL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677119" y="25372572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Customer:  predicted churn = 0.93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27770130" y="25326852"/>
            <a:ext cx="27432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9565600" y="25143972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565600" y="25418291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 </a:t>
            </a:r>
            <a:r>
              <a:rPr sz="1800" b="0" i="0" dirty="0" err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InternetService</a:t>
            </a: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Fiber -&gt; No internet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35215830" y="25383134"/>
            <a:ext cx="274320" cy="27432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6454080" y="25143972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454080" y="25418291"/>
            <a:ext cx="6614160" cy="317390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1800" b="1" i="0">
                <a:solidFill>
                  <a:srgbClr val="1F6F7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churn = 0.82  (-11 pp)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26243280"/>
            <a:ext cx="21396960" cy="5120640"/>
          </a:xfrm>
          <a:prstGeom prst="rect">
            <a:avLst/>
          </a:prstGeom>
          <a:solidFill>
            <a:srgbClr val="EDE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365760" y="26243280"/>
            <a:ext cx="21396960" cy="1097280"/>
          </a:xfrm>
          <a:prstGeom prst="rect">
            <a:avLst/>
          </a:prstGeom>
          <a:solidFill>
            <a:srgbClr val="C9B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36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F.  What Drives Churn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9238" y="27444111"/>
            <a:ext cx="4350665" cy="3703320"/>
          </a:xfrm>
          <a:prstGeom prst="rect">
            <a:avLst/>
          </a:prstGeom>
        </p:spPr>
      </p:pic>
      <p:graphicFrame>
        <p:nvGraphicFramePr>
          <p:cNvPr id="73" name="Table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107697"/>
              </p:ext>
            </p:extLst>
          </p:nvPr>
        </p:nvGraphicFramePr>
        <p:xfrm>
          <a:off x="10511942" y="27477719"/>
          <a:ext cx="1088501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2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2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894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Top driver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894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tenure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894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Contract  =  Two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894"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12529"/>
                          </a:solidFill>
                          <a:latin typeface="Calibri"/>
                        </a:rPr>
                        <a:t>InternetService</a:t>
                      </a:r>
                      <a:r>
                        <a:rPr sz="1800" dirty="0">
                          <a:solidFill>
                            <a:srgbClr val="212529"/>
                          </a:solidFill>
                          <a:latin typeface="Calibri"/>
                        </a:rPr>
                        <a:t>  =  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894">
                <a:tc>
                  <a:txBody>
                    <a:bodyPr/>
                    <a:lstStyle/>
                    <a:p>
                      <a:pPr algn="l"/>
                      <a:r>
                        <a:rPr sz="1800" dirty="0" err="1">
                          <a:solidFill>
                            <a:srgbClr val="212529"/>
                          </a:solidFill>
                          <a:latin typeface="Calibri"/>
                        </a:rPr>
                        <a:t>TotalCharges</a:t>
                      </a:r>
                      <a:endParaRPr sz="1800" dirty="0">
                        <a:solidFill>
                          <a:srgbClr val="212529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 7.6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894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MonthlyCharges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 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894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Contract  =  One year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 4.8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900"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212529"/>
                          </a:solidFill>
                          <a:latin typeface="Calibri"/>
                        </a:rPr>
                        <a:t>PaymentMethod  =  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212529"/>
                          </a:solidFill>
                          <a:latin typeface="Calibri"/>
                        </a:rPr>
                        <a:t> 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10510115" y="30320879"/>
            <a:ext cx="10885017" cy="1015401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Aligns with industry intuition:  short tenure, no long contract,</a:t>
            </a:r>
          </a:p>
          <a:p>
            <a:pPr algn="l">
              <a:lnSpc>
                <a:spcPct val="120000"/>
              </a:lnSpc>
            </a:pPr>
            <a:r>
              <a:rPr sz="1800" b="0" i="1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fiber, electronic check  --  known retention friction points.</a:t>
            </a:r>
          </a:p>
          <a:p>
            <a:pPr algn="l">
              <a:lnSpc>
                <a:spcPct val="120000"/>
              </a:lnSpc>
            </a:pPr>
            <a:r>
              <a:rPr sz="1800" b="0" i="1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Lever:  contract upsell campaigns target the top 3 drivers.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128480" y="26243280"/>
            <a:ext cx="21396960" cy="5120640"/>
          </a:xfrm>
          <a:prstGeom prst="rect">
            <a:avLst/>
          </a:prstGeom>
          <a:solidFill>
            <a:srgbClr val="DD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2128480" y="26243280"/>
            <a:ext cx="21396960" cy="1097280"/>
          </a:xfrm>
          <a:prstGeom prst="rect">
            <a:avLst/>
          </a:prstGeom>
          <a:solidFill>
            <a:srgbClr val="A8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36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G.  Conclusions &amp; Next Steps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494239" y="27477719"/>
            <a:ext cx="11985955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494239" y="27934919"/>
            <a:ext cx="11985955" cy="1745986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 CatBoost is the strongest classifier (F1 0.624, ROC-AUC 0.841, lowest Brier 0.139).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 Custom MLP does not beat logistic regression -- nonlinearity adds little on small one-hot data.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 Cost-aware threshold tuning is the dominant lever -- all four models recover ~$370K per 1,000 customers; architecture changes the result by &lt; 1%.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 Counterfactuals turn probabilities into specific retention actions.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499184" y="29846895"/>
            <a:ext cx="8450884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 readiness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499184" y="30212655"/>
            <a:ext cx="8450884" cy="683002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Save:  model + scaler + threshold (0.31).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monthly;  recalibrate quarterly.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480194" y="27630800"/>
            <a:ext cx="8450884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Limitations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4480194" y="27996560"/>
            <a:ext cx="8450884" cy="683002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Static snapshot;  no temporal drift.</a:t>
            </a:r>
          </a:p>
          <a:p>
            <a:pPr algn="l">
              <a:lnSpc>
                <a:spcPct val="12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ratios illustrative -- vary by segment.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480194" y="29048121"/>
            <a:ext cx="8450884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480194" y="29413880"/>
            <a:ext cx="8450884" cy="1015401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Stacking ensemble.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Cost-sensitive loss in MLP.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A/B test of threshold.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5760" y="31546800"/>
            <a:ext cx="43159680" cy="1097280"/>
          </a:xfrm>
          <a:prstGeom prst="rect">
            <a:avLst/>
          </a:prstGeom>
          <a:solidFill>
            <a:srgbClr val="E8EBEF"/>
          </a:solidFill>
          <a:ln w="9525">
            <a:solidFill>
              <a:srgbClr val="5F6A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40080" y="31592519"/>
            <a:ext cx="42611040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 &amp; Acknowledgements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31912560"/>
            <a:ext cx="21305520" cy="634528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[1] Verbeke, W. et al. (2012). New insights into churn prediction in telecommunications. Eur. J. Op. Res., 218(1), 211-229.</a:t>
            </a:r>
          </a:p>
          <a:p>
            <a:pPr algn="l">
              <a:lnSpc>
                <a:spcPct val="110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[2] </a:t>
            </a:r>
            <a:r>
              <a:rPr sz="1800" b="0" i="0" dirty="0" err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Prokhorenkova</a:t>
            </a: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L. et al. (2018). </a:t>
            </a:r>
            <a:r>
              <a:rPr sz="1800" b="0" i="0" dirty="0" err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CatBoost</a:t>
            </a: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unbiased boosting with categorical features. </a:t>
            </a:r>
            <a:r>
              <a:rPr sz="1800" b="0" i="0" dirty="0" err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NeurIPS</a:t>
            </a: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B2AD2-325C-6C54-E327-704CB0E32C19}"/>
              </a:ext>
            </a:extLst>
          </p:cNvPr>
          <p:cNvSpPr txBox="1"/>
          <p:nvPr/>
        </p:nvSpPr>
        <p:spPr>
          <a:xfrm>
            <a:off x="21945600" y="31922897"/>
            <a:ext cx="21305520" cy="634528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IN" sz="180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[3] Chen, T. &amp; </a:t>
            </a:r>
            <a:r>
              <a:rPr lang="en-IN" sz="1800" dirty="0" err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Guestrin</a:t>
            </a:r>
            <a:r>
              <a:rPr lang="en-IN" sz="180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C. (2016). </a:t>
            </a:r>
            <a:r>
              <a:rPr lang="en-IN" sz="1800" dirty="0" err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IN" sz="180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 scalable tree-boosting system. KDD.</a:t>
            </a:r>
          </a:p>
          <a:p>
            <a:pPr>
              <a:lnSpc>
                <a:spcPct val="110000"/>
              </a:lnSpc>
            </a:pPr>
            <a:r>
              <a:rPr lang="en-IN" sz="180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 IBM Telco Customer Churn (Kaggle: </a:t>
            </a:r>
            <a:r>
              <a:rPr lang="en-IN" sz="1800" dirty="0" err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blastchar</a:t>
            </a:r>
            <a:r>
              <a:rPr lang="en-IN" sz="180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/telco-customer-churn).    Acknowledgements:  Dr. Edgar Lobaton (instructor, ECE 525, NC State University).</a:t>
            </a:r>
          </a:p>
        </p:txBody>
      </p:sp>
      <p:sp>
        <p:nvSpPr>
          <p:cNvPr id="88" name="__V9A__panel"/>
          <p:cNvSpPr/>
          <p:nvPr/>
        </p:nvSpPr>
        <p:spPr>
          <a:xfrm>
            <a:off x="365760" y="5212080"/>
            <a:ext cx="12984480" cy="987552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__V9A__hdr"/>
          <p:cNvSpPr/>
          <p:nvPr/>
        </p:nvSpPr>
        <p:spPr>
          <a:xfrm>
            <a:off x="365760" y="5212080"/>
            <a:ext cx="12984480" cy="1097280"/>
          </a:xfrm>
          <a:prstGeom prst="rect">
            <a:avLst/>
          </a:prstGeom>
          <a:solidFill>
            <a:srgbClr val="C8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0000" rIns="120000" rtlCol="0" anchor="ctr"/>
          <a:lstStyle/>
          <a:p>
            <a:pPr algn="l"/>
            <a:r>
              <a:rPr sz="3800" b="1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 Motivation</a:t>
            </a:r>
          </a:p>
        </p:txBody>
      </p:sp>
      <p:sp>
        <p:nvSpPr>
          <p:cNvPr id="90" name="__V9A__hook"/>
          <p:cNvSpPr txBox="1"/>
          <p:nvPr/>
        </p:nvSpPr>
        <p:spPr>
          <a:xfrm>
            <a:off x="731520" y="6446520"/>
            <a:ext cx="12252959" cy="1885063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-- when a paying subscriber leaves a service -- is one of the most expensive problems in telecom.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Acquiring a new customer costs 5x-7x more than retaining one, so identifying customers about to leave is directly tied to revenue.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is rarely a surprise overnight: usage slips, support tickets spike, bills become unpredictable -- weak signals appear weeks or months before cancel.</a:t>
            </a:r>
          </a:p>
          <a:p>
            <a:pPr algn="l">
              <a:lnSpc>
                <a:spcPct val="112000"/>
              </a:lnSpc>
            </a:pPr>
            <a:r>
              <a:rPr sz="1800" b="0" i="0" dirty="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Carriers already hold the data to spot those patterns; the gap is reliable risk scores and thresholds aligned with who you can afford to save.</a:t>
            </a:r>
          </a:p>
        </p:txBody>
      </p:sp>
      <p:sp>
        <p:nvSpPr>
          <p:cNvPr id="91" name="__V9A__stakes"/>
          <p:cNvSpPr txBox="1"/>
          <p:nvPr/>
        </p:nvSpPr>
        <p:spPr>
          <a:xfrm>
            <a:off x="731520" y="8805672"/>
            <a:ext cx="12252959" cy="340216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7B2D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a 1M-subscriber carrier with 25% churn, a 3% reduction = ~7,500 retained customers/year, worth millions in lifetime value.</a:t>
            </a:r>
          </a:p>
        </p:txBody>
      </p:sp>
      <p:sp>
        <p:nvSpPr>
          <p:cNvPr id="92" name="__V9A__why_hdr"/>
          <p:cNvSpPr txBox="1"/>
          <p:nvPr/>
        </p:nvSpPr>
        <p:spPr>
          <a:xfrm>
            <a:off x="731520" y="9811512"/>
            <a:ext cx="12252959" cy="378945"/>
          </a:xfrm>
          <a:prstGeom prst="rect">
            <a:avLst/>
          </a:prstGeom>
          <a:noFill/>
        </p:spPr>
        <p:txBody>
          <a:bodyPr wrap="square" lIns="40000" tIns="20000" rIns="40000" bIns="20000" anchor="t">
            <a:spAutoFit/>
          </a:bodyPr>
          <a:lstStyle/>
          <a:p>
            <a:pPr algn="l"/>
            <a:r>
              <a:rPr sz="2200" b="1" i="0" dirty="0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standard ML misses the mark</a:t>
            </a:r>
          </a:p>
        </p:txBody>
      </p:sp>
      <p:sp>
        <p:nvSpPr>
          <p:cNvPr id="93" name="__V9A__chip0"/>
          <p:cNvSpPr/>
          <p:nvPr/>
        </p:nvSpPr>
        <p:spPr>
          <a:xfrm>
            <a:off x="731520" y="10314432"/>
            <a:ext cx="1225295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80000" rIns="150000" bIns="80000" rtlCol="0" anchor="ctr"/>
          <a:lstStyle/>
          <a:p>
            <a:pPr algn="ctr"/>
            <a:r>
              <a:rPr sz="1800" b="1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Imbalanced labels</a:t>
            </a:r>
          </a:p>
          <a:p>
            <a:pPr>
              <a:lnSpc>
                <a:spcPct val="115000"/>
              </a:lnSpc>
            </a:pPr>
            <a:r>
              <a:rPr sz="180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26.6% of customers churn. A trivial 'predict no-churn' model gets 73% accuracy and zero business value. Accuracy is the wrong metric.</a:t>
            </a:r>
          </a:p>
        </p:txBody>
      </p:sp>
      <p:sp>
        <p:nvSpPr>
          <p:cNvPr id="94" name="__V9A__chip1"/>
          <p:cNvSpPr/>
          <p:nvPr/>
        </p:nvSpPr>
        <p:spPr>
          <a:xfrm>
            <a:off x="731520" y="11777472"/>
            <a:ext cx="1225295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80000" rIns="150000" bIns="80000" rtlCol="0" anchor="ctr"/>
          <a:lstStyle/>
          <a:p>
            <a:pPr algn="ctr"/>
            <a:r>
              <a:rPr sz="1800" b="1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Asymmetric cost</a:t>
            </a:r>
          </a:p>
          <a:p>
            <a:pPr>
              <a:lnSpc>
                <a:spcPct val="115000"/>
              </a:lnSpc>
            </a:pPr>
            <a:r>
              <a:rPr sz="180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a churner ($1,500 lost LTV) is ~30x worse than a false alarm ($50 retention call). Optimization must reflect this.</a:t>
            </a:r>
          </a:p>
        </p:txBody>
      </p:sp>
      <p:sp>
        <p:nvSpPr>
          <p:cNvPr id="95" name="__V9A__chip2"/>
          <p:cNvSpPr/>
          <p:nvPr/>
        </p:nvSpPr>
        <p:spPr>
          <a:xfrm>
            <a:off x="731520" y="13240512"/>
            <a:ext cx="12252959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0" tIns="80000" rIns="150000" bIns="80000" rtlCol="0" anchor="ctr"/>
          <a:lstStyle/>
          <a:p>
            <a:pPr algn="ctr"/>
            <a:r>
              <a:rPr sz="1800" b="1">
                <a:solidFill>
                  <a:srgbClr val="2C3E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Threshold blindness</a:t>
            </a:r>
          </a:p>
          <a:p>
            <a:pPr>
              <a:lnSpc>
                <a:spcPct val="115000"/>
              </a:lnSpc>
            </a:pPr>
            <a:r>
              <a:rPr sz="1800">
                <a:solidFill>
                  <a:srgbClr val="21252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Default 0.5 cutoffs ignore both imbalance and cost. A 'good' model with the wrong threshold is still a poor business tool.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</Template>
  <TotalTime>239</TotalTime>
  <Words>1063</Words>
  <Application>Microsoft Office PowerPoint</Application>
  <PresentationFormat>Custom</PresentationFormat>
  <Paragraphs>153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Vathsa Kashyap</dc:creator>
  <cp:lastModifiedBy>Sree Vathsa Kashyap</cp:lastModifiedBy>
  <cp:revision>8</cp:revision>
  <dcterms:created xsi:type="dcterms:W3CDTF">2026-04-29T18:04:57Z</dcterms:created>
  <dcterms:modified xsi:type="dcterms:W3CDTF">2026-04-29T23:40:10Z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
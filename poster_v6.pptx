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sldIdLst>
    <p:sldId id="256" r:id="rId5"/>
  </p:sldIdLst>
  <p:sldSz cx="43891200" cy="32918400"/>
  <p:notesSz cx="9144000" cy="6858000"/>
  <p:defaultTextStyle>
    <a:defPPr>
      <a:defRPr lang="en-US"/>
    </a:defPPr>
    <a:lvl1pPr marL="0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/>
  </p:normalViewPr>
  <p:slideViewPr>
    <p:cSldViewPr snapToGrid="0" snapToObjects="1">
      <p:cViewPr>
        <p:scale>
          <a:sx n="50" d="100"/>
          <a:sy n="50" d="100"/>
        </p:scale>
        <p:origin x="36" y="-2394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263C8-1F4A-D143-B9CC-F49476357AC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B56C-B07E-3E41-B87D-461E056AF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4288280"/>
            <a:ext cx="26334720" cy="1795549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</p:sldLayoutIdLst>
  <p:txStyles>
    <p:titleStyle>
      <a:lvl1pPr algn="ctr" defTabSz="2194514" rtl="0" eaLnBrk="1" latinLnBrk="0" hangingPunct="1">
        <a:spcBef>
          <a:spcPct val="0"/>
        </a:spcBef>
        <a:buNone/>
        <a:defRPr sz="21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2194514" rtl="0" eaLnBrk="1" latinLnBrk="0" hangingPunct="1">
        <a:spcBef>
          <a:spcPct val="20000"/>
        </a:spcBef>
        <a:buFont typeface="Arial"/>
        <a:buChar char="•"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2194514" rtl="0" eaLnBrk="1" latinLnBrk="0" hangingPunct="1">
        <a:spcBef>
          <a:spcPct val="20000"/>
        </a:spcBef>
        <a:buFont typeface="Arial"/>
        <a:buChar char="–"/>
        <a:defRPr sz="1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2194514" rtl="0" eaLnBrk="1" latinLnBrk="0" hangingPunct="1">
        <a:spcBef>
          <a:spcPct val="20000"/>
        </a:spcBef>
        <a:buFont typeface="Arial"/>
        <a:buChar char="–"/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2194514" rtl="0" eaLnBrk="1" latinLnBrk="0" hangingPunct="1">
        <a:spcBef>
          <a:spcPct val="20000"/>
        </a:spcBef>
        <a:buFont typeface="Arial"/>
        <a:buChar char="»"/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095744" y="2301985"/>
            <a:ext cx="34730248" cy="2382678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 fontScale="85000" lnSpcReduction="10000"/>
          </a:bodyPr>
          <a:lstStyle>
            <a:lvl1pPr algn="ctr" defTabSz="2194514" rtl="0" eaLnBrk="1" latinLnBrk="0" hangingPunct="1">
              <a:spcBef>
                <a:spcPct val="0"/>
              </a:spcBef>
              <a:buNone/>
              <a:defRPr sz="21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400" dirty="0"/>
              <a:t>Cost-Aware Customer Churn Prediction for Telecom Industry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32268" y="4099648"/>
            <a:ext cx="22087332" cy="1223710"/>
          </a:xfrm>
          <a:prstGeom prst="rect">
            <a:avLst/>
          </a:prstGeom>
        </p:spPr>
        <p:txBody>
          <a:bodyPr vert="horz" lIns="438903" tIns="219451" rIns="438903" bIns="219451" rtlCol="0">
            <a:noAutofit/>
          </a:bodyPr>
          <a:lstStyle>
            <a:lvl1pPr marL="0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14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028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543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057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571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08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599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11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Sree Vathsa Kashyap Mydugolam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smydugo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Srinidhi Shivashankar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sshivas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Deekshith Anantha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dananth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Department of Electrical and Computer Engineering, NC State University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63636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7F0882-0239-10EF-F7CC-910E7D19F188}"/>
              </a:ext>
            </a:extLst>
          </p:cNvPr>
          <p:cNvSpPr txBox="1"/>
          <p:nvPr/>
        </p:nvSpPr>
        <p:spPr>
          <a:xfrm>
            <a:off x="6760095" y="1434926"/>
            <a:ext cx="10528844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+mj-lt"/>
              </a:rPr>
              <a:t>AI Student Symposium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1F05A-7FF3-52BF-3AB8-B995310A4974}"/>
              </a:ext>
            </a:extLst>
          </p:cNvPr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Poster 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D8AF-4EB9-BE9E-A276-0F846301C3A3}"/>
              </a:ext>
            </a:extLst>
          </p:cNvPr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Course ID : ECE525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486400"/>
            <a:ext cx="14081760" cy="960120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486400"/>
            <a:ext cx="14081760" cy="960120"/>
          </a:xfrm>
          <a:prstGeom prst="rect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A.  Motivation &amp;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583680"/>
            <a:ext cx="13350240" cy="12801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Customer churn -- a paying subscriber leaving a service -- is one of the most costly problems in telecom.</a:t>
            </a:r>
          </a:p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Acquiring a new customer costs 5x-7x more than retaining one, so identifying customers about to leave is directly tied to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8001000"/>
            <a:ext cx="13350240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Why standard ML misses the mark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8458200"/>
            <a:ext cx="1335024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20000" tIns="45000" bIns="45000"/>
          <a:lstStyle/>
          <a:p>
            <a:pPr algn="ctr"/>
            <a:r>
              <a:rPr sz="1600" b="1">
                <a:solidFill>
                  <a:srgbClr val="2C3E50"/>
                </a:solidFill>
                <a:latin typeface="Calibri"/>
              </a:rPr>
              <a:t>Imbalanced labels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212529"/>
                </a:solidFill>
                <a:latin typeface="Calibri"/>
              </a:rPr>
              <a:t>Only 26.6% of customers churn. A 'predict no churn' model gets 73% accuracy and zero business value -- accuracy is the wrong metric.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9326880"/>
            <a:ext cx="1335024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20000" tIns="45000" bIns="45000"/>
          <a:lstStyle/>
          <a:p>
            <a:pPr algn="ctr"/>
            <a:r>
              <a:rPr sz="1600" b="1">
                <a:solidFill>
                  <a:srgbClr val="2C3E50"/>
                </a:solidFill>
                <a:latin typeface="Calibri"/>
              </a:rPr>
              <a:t>Asymmetric cost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212529"/>
                </a:solidFill>
                <a:latin typeface="Calibri"/>
              </a:rPr>
              <a:t>Missing a churner costs ~$1,500 in lost LTV; a false alarm costs ~$50. False negatives are 30x more expensive than false positives.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10195559"/>
            <a:ext cx="1335024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rIns="120000" tIns="45000" bIns="45000"/>
          <a:lstStyle/>
          <a:p>
            <a:pPr algn="ctr"/>
            <a:r>
              <a:rPr sz="1600" b="1">
                <a:solidFill>
                  <a:srgbClr val="2C3E50"/>
                </a:solidFill>
                <a:latin typeface="Calibri"/>
              </a:rPr>
              <a:t>Threshold blindness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212529"/>
                </a:solidFill>
                <a:latin typeface="Calibri"/>
              </a:rPr>
              <a:t>Default 0.5 cutoffs ignore both imbalance and cost, so a 'good' model can still be a poor business tool.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1201399"/>
            <a:ext cx="13350240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Our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1658599"/>
            <a:ext cx="13350240" cy="1554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212529"/>
                </a:solidFill>
                <a:latin typeface="Calibri"/>
              </a:rPr>
              <a:t>Compare four churn classifiers -- Logistic Regression, custom MLP, CatBoost, XGBoost -- under a cost-aware evaluation that ties model probabilities to dollars.</a:t>
            </a:r>
          </a:p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212529"/>
                </a:solidFill>
                <a:latin typeface="Calibri"/>
              </a:rPr>
              <a:t>We show that the right operating threshold matters more than the choice of architecture, unlocking ~$370K of net business value per 1,000 customers.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904720" y="5486400"/>
            <a:ext cx="14081760" cy="9601200"/>
          </a:xfrm>
          <a:prstGeom prst="rect">
            <a:avLst/>
          </a:prstGeom>
          <a:solidFill>
            <a:srgbClr val="E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904720" y="5486400"/>
            <a:ext cx="14081760" cy="960120"/>
          </a:xfrm>
          <a:prstGeom prst="rect">
            <a:avLst/>
          </a:prstGeom>
          <a:solidFill>
            <a:srgbClr val="B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B.  Data &amp; EDA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0" y="6583680"/>
            <a:ext cx="13350240" cy="10058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IBM Telco Customer Churn  (Kaggle)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7,032 customers x 19 features after cleaning. Demographics, contract, services, charges. Target: Churn (Yes / No).</a:t>
            </a:r>
          </a:p>
        </p:txBody>
      </p:sp>
      <p:pic>
        <p:nvPicPr>
          <p:cNvPr id="24" name="Picture 23" descr="eda_01_class_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71972" y="7680960"/>
            <a:ext cx="2939646" cy="23317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3013619" y="7680960"/>
            <a:ext cx="5607100" cy="2331720"/>
          </a:xfrm>
          <a:prstGeom prst="rect">
            <a:avLst/>
          </a:prstGeom>
          <a:noFill/>
        </p:spPr>
        <p:txBody>
          <a:bodyPr wrap="square" lIns="40000" rIns="40000" tIns="20000" bIns="200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Class balance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5,163 stayed (73%)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1,869 churned (27%)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Minority ratio 1 : 2.76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0" y="10149840"/>
            <a:ext cx="13350240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900" b="1" i="0">
                <a:solidFill>
                  <a:srgbClr val="2C3E50"/>
                </a:solidFill>
                <a:latin typeface="Calibri"/>
              </a:rPr>
              <a:t>Top churn drivers</a:t>
            </a:r>
          </a:p>
        </p:txBody>
      </p:sp>
      <p:pic>
        <p:nvPicPr>
          <p:cNvPr id="27" name="Picture 26" descr="eda_02_churn_by_contra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20639" y="10607040"/>
            <a:ext cx="4849921" cy="3200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270480" y="13898880"/>
            <a:ext cx="13350240" cy="13716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Contract:  month-to-month 43%   vs   two-year 3%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Tenure:  churners cluster in the first 12 months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Internet:  fiber 42%   vs   DSL 19%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Payment:  electronic check 45%   vs   auto-pay &lt;20%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352240" y="5486400"/>
            <a:ext cx="14081760" cy="9601200"/>
          </a:xfrm>
          <a:prstGeom prst="rect">
            <a:avLst/>
          </a:prstGeom>
          <a:solidFill>
            <a:srgbClr val="E8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352240" y="5486400"/>
            <a:ext cx="14081760" cy="960120"/>
          </a:xfrm>
          <a:prstGeom prst="rect">
            <a:avLst/>
          </a:prstGeom>
          <a:solidFill>
            <a:srgbClr val="C4D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C.  Methodology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0" y="6537959"/>
            <a:ext cx="13350240" cy="12801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212529"/>
                </a:solidFill>
                <a:latin typeface="Calibri"/>
              </a:rPr>
              <a:t>We compare four models under one disciplined pipeline so differences come from architecture, not preprocessing.</a:t>
            </a:r>
          </a:p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212529"/>
                </a:solidFill>
                <a:latin typeface="Calibri"/>
              </a:rPr>
              <a:t>All models share the same stratified split, the same train-only scaling, and the same validation-tuned threshold.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718000" y="7909559"/>
            <a:ext cx="133502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000" bIns="25000" lIns="60000" rIns="60000"/>
          <a:lstStyle/>
          <a:p>
            <a:pPr algn="ctr"/>
            <a:r>
              <a:rPr sz="1300" b="1">
                <a:solidFill>
                  <a:srgbClr val="212529"/>
                </a:solidFill>
                <a:latin typeface="Calibri"/>
              </a:rPr>
              <a:t>Raw CSV  (7,032 customers)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36274247" y="8321039"/>
            <a:ext cx="237744" cy="146304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718000" y="8485631"/>
            <a:ext cx="133502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000" bIns="25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Clean: drop ID, fix TotalCharges    One-hot encode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6274247" y="8942831"/>
            <a:ext cx="237744" cy="146304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718000" y="9107423"/>
            <a:ext cx="13350240" cy="54864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000" bIns="25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Stratified split  70 / 15 / 15</a:t>
            </a:r>
            <a:br/>
            <a:r>
              <a:rPr sz="1200" b="1">
                <a:solidFill>
                  <a:srgbClr val="212529"/>
                </a:solidFill>
                <a:latin typeface="Calibri"/>
              </a:rPr>
              <a:t>Fit StandardScaler on TRAIN only  (no leakage)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36274247" y="9656063"/>
            <a:ext cx="237744" cy="146304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9718000" y="9820655"/>
            <a:ext cx="3268979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000" bIns="25000" lIns="60000" rIns="60000"/>
          <a:lstStyle/>
          <a:p>
            <a:pPr algn="ctr"/>
            <a:r>
              <a:rPr sz="1100" b="1">
                <a:solidFill>
                  <a:srgbClr val="212529"/>
                </a:solidFill>
                <a:latin typeface="Calibri"/>
              </a:rPr>
              <a:t>Logistic</a:t>
            </a:r>
            <a:br/>
            <a:r>
              <a:rPr sz="1100" b="1">
                <a:solidFill>
                  <a:srgbClr val="212529"/>
                </a:solidFill>
                <a:latin typeface="Calibri"/>
              </a:rPr>
              <a:t>Regression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078419" y="9820655"/>
            <a:ext cx="3268979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000" bIns="25000" lIns="60000" rIns="60000"/>
          <a:lstStyle/>
          <a:p>
            <a:pPr algn="ctr"/>
            <a:r>
              <a:rPr sz="1100" b="1">
                <a:solidFill>
                  <a:srgbClr val="212529"/>
                </a:solidFill>
                <a:latin typeface="Calibri"/>
              </a:rPr>
              <a:t>Custom</a:t>
            </a:r>
            <a:br/>
            <a:r>
              <a:rPr sz="1100" b="1">
                <a:solidFill>
                  <a:srgbClr val="212529"/>
                </a:solidFill>
                <a:latin typeface="Calibri"/>
              </a:rPr>
              <a:t>MLP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438840" y="9820655"/>
            <a:ext cx="3268979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000" bIns="25000" lIns="60000" rIns="60000"/>
          <a:lstStyle/>
          <a:p>
            <a:pPr algn="ctr"/>
            <a:r>
              <a:rPr sz="1100" b="1">
                <a:solidFill>
                  <a:srgbClr val="212529"/>
                </a:solidFill>
                <a:latin typeface="Calibri"/>
              </a:rPr>
              <a:t>CatBoost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799260" y="9820655"/>
            <a:ext cx="3268979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000" bIns="25000" lIns="60000" rIns="60000"/>
          <a:lstStyle/>
          <a:p>
            <a:pPr algn="ctr"/>
            <a:r>
              <a:rPr sz="1100" b="1">
                <a:solidFill>
                  <a:srgbClr val="212529"/>
                </a:solidFill>
                <a:latin typeface="Calibri"/>
              </a:rPr>
              <a:t>XGBoost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36274247" y="10277855"/>
            <a:ext cx="237744" cy="146304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9718000" y="10442447"/>
            <a:ext cx="13350240" cy="41148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000" bIns="25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Tune threshold on VALIDATION  (max F1)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36274247" y="10853927"/>
            <a:ext cx="237744" cy="146304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718000" y="11018519"/>
            <a:ext cx="13350240" cy="411480"/>
          </a:xfrm>
          <a:prstGeom prst="roundRect">
            <a:avLst/>
          </a:prstGeom>
          <a:solidFill>
            <a:srgbClr val="C4D5B5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000" bIns="25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Test metrics  +  Cost-aware $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0" y="11612879"/>
            <a:ext cx="13350240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900" b="1" i="0">
                <a:solidFill>
                  <a:srgbClr val="2C3E50"/>
                </a:solidFill>
                <a:latin typeface="Calibri"/>
              </a:rPr>
              <a:t>The four models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0" y="12070079"/>
            <a:ext cx="13350240" cy="20116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Logistic Regression -- linear, interpretable baseline (class_weight=balanced).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Custom MLP (course requirement) -- 128 -&gt; 64 -&gt; 1, ReLU + Dropout 0.2; weighted BCE; Adam; early stopping.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CatBoost / XGBoost -- gradient-boosted trees, grid search on validation PR-AUC.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Evaluation: F1, ROC-AUC, PR-AUC, Brier, $ value (FN $1,500 / FP $50).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15270480"/>
            <a:ext cx="21236940" cy="10515600"/>
          </a:xfrm>
          <a:prstGeom prst="rect">
            <a:avLst/>
          </a:prstGeom>
          <a:solidFill>
            <a:srgbClr val="F6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15270480"/>
            <a:ext cx="21236940" cy="960120"/>
          </a:xfrm>
          <a:prstGeom prst="rect">
            <a:avLst/>
          </a:prstGeom>
          <a:solidFill>
            <a:srgbClr val="E6D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D.  Results -- Model Comparison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16413480"/>
            <a:ext cx="20505420" cy="10058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212529"/>
                </a:solidFill>
                <a:latin typeface="Calibri"/>
              </a:rPr>
              <a:t>All four models trained on identical features and splits, then scored on the held-out test set with a validation-tuned threshold (max F1).</a:t>
            </a:r>
          </a:p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212529"/>
                </a:solidFill>
                <a:latin typeface="Calibri"/>
              </a:rPr>
              <a:t>The custom MLP does not beat logistic regression on this small one-hot dataset -- itself a meaningful finding.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822960" y="17510760"/>
          <a:ext cx="205054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345"/>
                <a:gridCol w="2929345"/>
                <a:gridCol w="2929345"/>
                <a:gridCol w="2929345"/>
                <a:gridCol w="2929345"/>
                <a:gridCol w="2929345"/>
                <a:gridCol w="292935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0.642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0.139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0.591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0.516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0.603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0.592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0.177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0.488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822960" y="19568160"/>
            <a:ext cx="2050542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2C3E50"/>
                </a:solidFill>
                <a:latin typeface="Calibri"/>
              </a:rPr>
              <a:t>CatBoost wins on F1 + calibration; XGBoost ties on PR-AUC.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648" y="20071080"/>
            <a:ext cx="12720042" cy="521208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2960" y="25328880"/>
            <a:ext cx="20505420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ctr"/>
            <a:r>
              <a:rPr sz="1200" b="0" i="1">
                <a:solidFill>
                  <a:srgbClr val="5F6A76"/>
                </a:solidFill>
                <a:latin typeface="Calibri"/>
              </a:rPr>
              <a:t>ROC and Precision-Recall curves on test set -- ranking quality independent of any single threshold.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197060" y="15270480"/>
            <a:ext cx="21236940" cy="10515600"/>
          </a:xfrm>
          <a:prstGeom prst="rect">
            <a:avLst/>
          </a:prstGeom>
          <a:solidFill>
            <a:srgbClr val="E5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197060" y="15270480"/>
            <a:ext cx="21236940" cy="960120"/>
          </a:xfrm>
          <a:prstGeom prst="rect">
            <a:avLst/>
          </a:prstGeom>
          <a:solidFill>
            <a:srgbClr val="BDC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E.  Results -- Cost-Aware Analysis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562820" y="16413480"/>
            <a:ext cx="20505420" cy="12801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212529"/>
                </a:solidFill>
                <a:latin typeface="Calibri"/>
              </a:rPr>
              <a:t>We translate model probabilities into business value by sweeping the decision threshold under realistic costs:</a:t>
            </a:r>
          </a:p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212529"/>
                </a:solidFill>
                <a:latin typeface="Calibri"/>
              </a:rPr>
              <a:t>$1,500 for a missed churner (FN), $50 for a false alarm (FP).    Net Value = TP * $1,500 - FP * $50.</a:t>
            </a:r>
          </a:p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212529"/>
                </a:solidFill>
                <a:latin typeface="Calibri"/>
              </a:rPr>
              <a:t>The optimum is selected on validation, then evaluated once on test.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562820" y="17830800"/>
            <a:ext cx="20505420" cy="10972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800" b="1">
                <a:solidFill>
                  <a:srgbClr val="1F6F7A"/>
                </a:solidFill>
                <a:latin typeface="Calibri"/>
              </a:rPr>
              <a:t>~ $370K</a:t>
            </a:r>
          </a:p>
          <a:p>
            <a:pPr algn="ctr"/>
            <a:r>
              <a:rPr sz="1500" i="1">
                <a:solidFill>
                  <a:srgbClr val="2C3E50"/>
                </a:solidFill>
                <a:latin typeface="Calibri"/>
              </a:rPr>
              <a:t>net business value per 1,000 customers when threshold is tuned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22562820" y="19110960"/>
          <a:ext cx="205054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5140"/>
                <a:gridCol w="6835140"/>
                <a:gridCol w="6835140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Optimal threshold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Net value / 1,000 customers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12529"/>
                          </a:solidFill>
                          <a:latin typeface="Calibri"/>
                        </a:rPr>
                        <a:t>$371,043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12529"/>
                          </a:solidFill>
                          <a:latin typeface="Calibri"/>
                        </a:rPr>
                        <a:t>$370,616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12529"/>
                          </a:solidFill>
                          <a:latin typeface="Calibri"/>
                        </a:rPr>
                        <a:t>$370,142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12529"/>
                          </a:solidFill>
                          <a:latin typeface="Calibri"/>
                        </a:rPr>
                        <a:t>$368,910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22562820" y="20985480"/>
            <a:ext cx="2050542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7B2D40"/>
                </a:solidFill>
                <a:latin typeface="Calibri"/>
              </a:rPr>
              <a:t>Constraint: contacting only top-20% riskiest -- CatBoost still delivers $175,687 / 1,000 at threshold 0.54.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26" y="21579839"/>
            <a:ext cx="6777146" cy="4023360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35459060" y="21579839"/>
            <a:ext cx="7609179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120000" bIns="120000"/>
          <a:lstStyle/>
          <a:p>
            <a:pPr algn="ctr"/>
            <a:r>
              <a:rPr sz="1600" b="1" i="0">
                <a:solidFill>
                  <a:srgbClr val="2C3E50"/>
                </a:solidFill>
                <a:latin typeface="Calibri"/>
              </a:rPr>
              <a:t>Counterfactual</a:t>
            </a:r>
          </a:p>
          <a:p>
            <a:pPr algn="ctr"/>
            <a:r>
              <a:rPr sz="1200" b="0" i="1">
                <a:solidFill>
                  <a:srgbClr val="5F6A76"/>
                </a:solidFill>
                <a:latin typeface="Calibri"/>
              </a:rPr>
              <a:t>From probability to action</a:t>
            </a:r>
          </a:p>
          <a:p>
            <a:pPr algn="ctr"/>
          </a:p>
          <a:p>
            <a:pPr algn="ctr"/>
            <a:r>
              <a:rPr sz="1400" b="1" i="0">
                <a:solidFill>
                  <a:srgbClr val="212529"/>
                </a:solidFill>
                <a:latin typeface="Calibri"/>
              </a:rPr>
              <a:t>Highest-risk customer:</a:t>
            </a:r>
          </a:p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predicted churn  =  0.93</a:t>
            </a:r>
          </a:p>
          <a:p>
            <a:pPr algn="ctr"/>
          </a:p>
          <a:p>
            <a:pPr algn="ctr"/>
            <a:r>
              <a:rPr sz="1400" b="1" i="0">
                <a:solidFill>
                  <a:srgbClr val="212529"/>
                </a:solidFill>
                <a:latin typeface="Calibri"/>
              </a:rPr>
              <a:t>Switch InternetService:</a:t>
            </a:r>
          </a:p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Fiber optic -&gt; No internet</a:t>
            </a:r>
          </a:p>
          <a:p>
            <a:pPr algn="ctr"/>
          </a:p>
          <a:p>
            <a:pPr algn="ctr"/>
            <a:r>
              <a:rPr sz="1800" b="1" i="0">
                <a:solidFill>
                  <a:srgbClr val="1F6F7A"/>
                </a:solidFill>
                <a:latin typeface="Calibri"/>
              </a:rPr>
              <a:t>predicted churn  =  0.82</a:t>
            </a:r>
          </a:p>
          <a:p>
            <a:pPr algn="ctr"/>
          </a:p>
          <a:p>
            <a:pPr algn="ctr"/>
            <a:r>
              <a:rPr sz="1200" b="0" i="1">
                <a:solidFill>
                  <a:srgbClr val="5F6A76"/>
                </a:solidFill>
                <a:latin typeface="Calibri"/>
              </a:rPr>
              <a:t>(-11 pp -- a specific lever)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25968960"/>
            <a:ext cx="21236940" cy="5120640"/>
          </a:xfrm>
          <a:prstGeom prst="rect">
            <a:avLst/>
          </a:prstGeom>
          <a:solidFill>
            <a:srgbClr val="ED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25968960"/>
            <a:ext cx="21236940" cy="960120"/>
          </a:xfrm>
          <a:prstGeom prst="rect">
            <a:avLst/>
          </a:prstGeom>
          <a:solidFill>
            <a:srgbClr val="C9B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F.  What Drives Churn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324" y="27066239"/>
            <a:ext cx="4458089" cy="3794760"/>
          </a:xfrm>
          <a:prstGeom prst="rect">
            <a:avLst/>
          </a:prstGeom>
        </p:spPr>
      </p:pic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11760098" y="27066239"/>
          <a:ext cx="9568281" cy="2959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4140"/>
                <a:gridCol w="4784141"/>
              </a:tblGrid>
              <a:tr h="36998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 driver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Importance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998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tenure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98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Contract  =  Two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998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InternetService  =  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98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TotalCharges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 7.6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998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MonthlyCharges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 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98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Contract  =  One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 4.8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998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PaymentMethod  =  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 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11760098" y="30102048"/>
            <a:ext cx="9568281" cy="758952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212529"/>
                </a:solidFill>
                <a:latin typeface="Calibri"/>
              </a:rPr>
              <a:t>Matches EDA: short tenure, no long contract, fiber, electronic-check are the strongest churn signals.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197060" y="25968960"/>
            <a:ext cx="21236940" cy="5120640"/>
          </a:xfrm>
          <a:prstGeom prst="rect">
            <a:avLst/>
          </a:prstGeom>
          <a:solidFill>
            <a:srgbClr val="D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197060" y="25968960"/>
            <a:ext cx="21236940" cy="960120"/>
          </a:xfrm>
          <a:prstGeom prst="rect">
            <a:avLst/>
          </a:prstGeom>
          <a:solidFill>
            <a:srgbClr val="A8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2800" b="1">
                <a:solidFill>
                  <a:srgbClr val="212529"/>
                </a:solidFill>
                <a:latin typeface="Calibri"/>
              </a:rPr>
              <a:t>G.  Conclusions &amp; Next Steps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562820" y="27020520"/>
            <a:ext cx="11277981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Findings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562820" y="27432000"/>
            <a:ext cx="11277981" cy="3200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1.  CatBoost is the strongest classifier (F1 0.624, ROC-AUC 0.841, lowest Brier 0.139).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2.  Custom MLP does not beat logistic regression -- nonlinearity adds little on small one-hot tabular data.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3.  Cost-aware threshold tuning is the dominant lever -- all four models recover ~$370K per 1,000 customers; architecture matters less than calibration.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4.  Counterfactuals turn probabilities into specific retention actions.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977961" y="27020520"/>
            <a:ext cx="9090278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Deployment readiness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977961" y="27432000"/>
            <a:ext cx="9090278" cy="10515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Save:  CatBoost model  +  fitted scaler  +  chosen threshold (0.31).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Score new customers monthly; recalibrate quarterly.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977961" y="28529280"/>
            <a:ext cx="9090278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Limitations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977961" y="28940760"/>
            <a:ext cx="9090278" cy="10515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Static snapshot dataset.   Cost ratios ($1,500 / $50) are illustrative -- real numbers differ by segment.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977961" y="30038040"/>
            <a:ext cx="9090278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Broader impact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977961" y="30449519"/>
            <a:ext cx="9090278" cy="10058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Same pipeline applies to subscription / SaaS / streaming churn.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562820" y="30769560"/>
            <a:ext cx="20505420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Next steps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562820" y="31181040"/>
            <a:ext cx="2050542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212529"/>
                </a:solidFill>
                <a:latin typeface="Calibri"/>
              </a:rPr>
              <a:t>Stacking ensemble  -  cost-sensitive loss in MLP training  -  monthly recalibration  -  live A/B test of threshold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1272480"/>
            <a:ext cx="42976800" cy="1371600"/>
          </a:xfrm>
          <a:prstGeom prst="rect">
            <a:avLst/>
          </a:prstGeom>
          <a:solidFill>
            <a:srgbClr val="E8EBEF"/>
          </a:solidFill>
          <a:ln w="9525">
            <a:solidFill>
              <a:srgbClr val="5F6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20" y="31363920"/>
            <a:ext cx="4242816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References &amp; Acknowledgements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31729680"/>
            <a:ext cx="42428160" cy="8686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[1] Verbeke, W. et al. (2012). New insights into churn prediction in telecommunications. Eur. J. Op. Res., 218(1), 211-229.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[2] Prokhorenkova, L. et al. (2018). CatBoost: unbiased boosting with categorical features. NeurIPS.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[3] Chen, T. &amp; Guestrin, C. (2016). XGBoost: a scalable tree-boosting system. KDD.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Dataset:  IBM Telco Customer Churn (Kaggle:  blastchar/telco-customer-churn).    Acknowledgements:  Dr. Edgar Lobaton (instructor, ECE 525, NC State University).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-Presentation-36x48">
  <a:themeElements>
    <a:clrScheme name="NC State Colors">
      <a:dk1>
        <a:srgbClr val="1A1718"/>
      </a:dk1>
      <a:lt1>
        <a:sysClr val="window" lastClr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68B94EE-C93F-44B0-B0EA-331121112AF1}" vid="{52936D81-9774-46E2-A1BE-EFCE3581B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Template</Template>
  <TotalTime>206</TotalTime>
  <Words>1021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NCState-Presentation-36x48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Vathsa Kashyap</dc:creator>
  <cp:lastModifiedBy>Sree Vathsa Kashyap</cp:lastModifiedBy>
  <cp:revision>3</cp:revision>
  <dcterms:created xsi:type="dcterms:W3CDTF">2026-04-29T18:04:57Z</dcterms:created>
  <dcterms:modified xsi:type="dcterms:W3CDTF">2026-04-29T21:31:41Z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
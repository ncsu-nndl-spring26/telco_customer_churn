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</p:sldMasterIdLst>
  <p:notesMasterIdLst>
    <p:notesMasterId r:id="rId6"/>
  </p:notesMasterIdLst>
  <p:sldIdLst>
    <p:sldId id="256" r:id="rId5"/>
  </p:sldIdLst>
  <p:sldSz cx="43891200" cy="32918400"/>
  <p:notesSz cx="9144000" cy="6858000"/>
  <p:defaultTextStyle>
    <a:defPPr>
      <a:defRPr lang="en-US"/>
    </a:defPPr>
    <a:lvl1pPr marL="0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74"/>
  </p:normalViewPr>
  <p:slideViewPr>
    <p:cSldViewPr snapToGrid="0" snapToObjects="1">
      <p:cViewPr varScale="1">
        <p:scale>
          <a:sx n="35" d="100"/>
          <a:sy n="35" d="100"/>
        </p:scale>
        <p:origin x="3954" y="138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263C8-1F4A-D143-B9CC-F49476357AC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1B56C-B07E-3E41-B87D-461E056AF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2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31B56C-B07E-3E41-B87D-461E056AF0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13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0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0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226"/>
            <a:ext cx="37307520" cy="7200898"/>
          </a:xfrm>
        </p:spPr>
        <p:txBody>
          <a:bodyPr anchor="b"/>
          <a:lstStyle>
            <a:lvl1pPr marL="0" indent="0">
              <a:buNone/>
              <a:defRPr sz="9700">
                <a:solidFill>
                  <a:schemeClr val="tx1">
                    <a:tint val="75000"/>
                  </a:schemeClr>
                </a:solidFill>
              </a:defRPr>
            </a:lvl1pPr>
            <a:lvl2pPr marL="2194514" indent="0">
              <a:buNone/>
              <a:defRPr sz="8700">
                <a:solidFill>
                  <a:schemeClr val="tx1">
                    <a:tint val="75000"/>
                  </a:schemeClr>
                </a:solidFill>
              </a:defRPr>
            </a:lvl2pPr>
            <a:lvl3pPr marL="4389028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543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057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239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5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13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059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2" y="7368543"/>
            <a:ext cx="19392903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2" y="10439401"/>
            <a:ext cx="19392903" cy="18966182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3" y="7368543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3" y="10439401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682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471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22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3" cy="5577840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4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700"/>
            </a:lvl4pPr>
            <a:lvl5pPr>
              <a:defRPr sz="9700"/>
            </a:lvl5pPr>
            <a:lvl6pPr>
              <a:defRPr sz="9700"/>
            </a:lvl6pPr>
            <a:lvl7pPr>
              <a:defRPr sz="9700"/>
            </a:lvl7pPr>
            <a:lvl8pPr>
              <a:defRPr sz="9700"/>
            </a:lvl8pPr>
            <a:lvl9pPr>
              <a:defRPr sz="9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4"/>
            <a:ext cx="14439903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822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3" y="23042881"/>
            <a:ext cx="26334720" cy="2720342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3" y="4288280"/>
            <a:ext cx="26334720" cy="17955490"/>
          </a:xfrm>
        </p:spPr>
        <p:txBody>
          <a:bodyPr/>
          <a:lstStyle>
            <a:lvl1pPr marL="0" indent="0">
              <a:buNone/>
              <a:defRPr sz="15400"/>
            </a:lvl1pPr>
            <a:lvl2pPr marL="2194514" indent="0">
              <a:buNone/>
              <a:defRPr sz="13400"/>
            </a:lvl2pPr>
            <a:lvl3pPr marL="4389028" indent="0">
              <a:buNone/>
              <a:defRPr sz="11500"/>
            </a:lvl3pPr>
            <a:lvl4pPr marL="6583543" indent="0">
              <a:buNone/>
              <a:defRPr sz="9700"/>
            </a:lvl4pPr>
            <a:lvl5pPr marL="8778057" indent="0">
              <a:buNone/>
              <a:defRPr sz="9700"/>
            </a:lvl5pPr>
            <a:lvl6pPr marL="10972571" indent="0">
              <a:buNone/>
              <a:defRPr sz="9700"/>
            </a:lvl6pPr>
            <a:lvl7pPr marL="13167085" indent="0">
              <a:buNone/>
              <a:defRPr sz="9700"/>
            </a:lvl7pPr>
            <a:lvl8pPr marL="15361599" indent="0">
              <a:buNone/>
              <a:defRPr sz="9700"/>
            </a:lvl8pPr>
            <a:lvl9pPr marL="17556115" indent="0">
              <a:buNone/>
              <a:defRPr sz="97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3" y="25763223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5983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8785861"/>
            <a:ext cx="39502080" cy="21724622"/>
          </a:xfrm>
          <a:prstGeom prst="rect">
            <a:avLst/>
          </a:prstGeom>
        </p:spPr>
        <p:txBody>
          <a:bodyPr vert="horz" lIns="438903" tIns="219451" rIns="438903" bIns="21945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  <p:sldLayoutId id="2147493457" r:id="rId2"/>
    <p:sldLayoutId id="2147493458" r:id="rId3"/>
    <p:sldLayoutId id="2147493459" r:id="rId4"/>
    <p:sldLayoutId id="2147493460" r:id="rId5"/>
    <p:sldLayoutId id="2147493461" r:id="rId6"/>
    <p:sldLayoutId id="2147493462" r:id="rId7"/>
    <p:sldLayoutId id="2147493463" r:id="rId8"/>
    <p:sldLayoutId id="2147493464" r:id="rId9"/>
  </p:sldLayoutIdLst>
  <p:txStyles>
    <p:titleStyle>
      <a:lvl1pPr algn="ctr" defTabSz="2194514" rtl="0" eaLnBrk="1" latinLnBrk="0" hangingPunct="1">
        <a:spcBef>
          <a:spcPct val="0"/>
        </a:spcBef>
        <a:buNone/>
        <a:defRPr sz="21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886" indent="-1645886" algn="l" defTabSz="2194514" rtl="0" eaLnBrk="1" latinLnBrk="0" hangingPunct="1">
        <a:spcBef>
          <a:spcPct val="20000"/>
        </a:spcBef>
        <a:buFont typeface="Arial"/>
        <a:buChar char="•"/>
        <a:defRPr sz="13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086" indent="-1371572" algn="l" defTabSz="2194514" rtl="0" eaLnBrk="1" latinLnBrk="0" hangingPunct="1">
        <a:spcBef>
          <a:spcPct val="20000"/>
        </a:spcBef>
        <a:buFont typeface="Arial"/>
        <a:buChar char="–"/>
        <a:defRPr sz="11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86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800" indent="-1097257" algn="l" defTabSz="2194514" rtl="0" eaLnBrk="1" latinLnBrk="0" hangingPunct="1">
        <a:spcBef>
          <a:spcPct val="20000"/>
        </a:spcBef>
        <a:buFont typeface="Arial"/>
        <a:buChar char="–"/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314" indent="-1097257" algn="l" defTabSz="2194514" rtl="0" eaLnBrk="1" latinLnBrk="0" hangingPunct="1">
        <a:spcBef>
          <a:spcPct val="20000"/>
        </a:spcBef>
        <a:buFont typeface="Arial"/>
        <a:buChar char="»"/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828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342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858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372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14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028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543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057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71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085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599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115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7095744" y="2301985"/>
            <a:ext cx="34730248" cy="2382678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 fontScale="85000" lnSpcReduction="10000"/>
          </a:bodyPr>
          <a:lstStyle>
            <a:lvl1pPr algn="ctr" defTabSz="2194514" rtl="0" eaLnBrk="1" latinLnBrk="0" hangingPunct="1">
              <a:spcBef>
                <a:spcPct val="0"/>
              </a:spcBef>
              <a:buNone/>
              <a:defRPr sz="211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400" dirty="0"/>
              <a:t>Cost-Aware Customer Churn Prediction for Telecom Industry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0432268" y="4099648"/>
            <a:ext cx="22087332" cy="1223710"/>
          </a:xfrm>
          <a:prstGeom prst="rect">
            <a:avLst/>
          </a:prstGeom>
        </p:spPr>
        <p:txBody>
          <a:bodyPr vert="horz" lIns="438903" tIns="219451" rIns="438903" bIns="219451" rtlCol="0">
            <a:noAutofit/>
          </a:bodyPr>
          <a:lstStyle>
            <a:lvl1pPr marL="0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13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94514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1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89028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583543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8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778057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8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72571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167085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361599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556115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194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Sree Vathsa Kashyap Mydugolam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smydugo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  |   Srinidhi Shivashankar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sshivas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  |   Deekshith Anantha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dananth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  <a:p>
            <a:pPr marL="0" marR="0" lvl="0" indent="0" algn="ctr" defTabSz="2194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Department of Electrical and Computer Engineering, NC State University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r="63636"/>
          <a:stretch/>
        </p:blipFill>
        <p:spPr>
          <a:xfrm>
            <a:off x="1371600" y="914654"/>
            <a:ext cx="5388495" cy="31136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7F0882-0239-10EF-F7CC-910E7D19F188}"/>
              </a:ext>
            </a:extLst>
          </p:cNvPr>
          <p:cNvSpPr txBox="1"/>
          <p:nvPr/>
        </p:nvSpPr>
        <p:spPr>
          <a:xfrm>
            <a:off x="6760095" y="1434926"/>
            <a:ext cx="10528844" cy="101566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+mj-lt"/>
              </a:rPr>
              <a:t>AI Student Symposium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1F05A-7FF3-52BF-3AB8-B995310A4974}"/>
              </a:ext>
            </a:extLst>
          </p:cNvPr>
          <p:cNvSpPr txBox="1"/>
          <p:nvPr/>
        </p:nvSpPr>
        <p:spPr>
          <a:xfrm>
            <a:off x="36137088" y="1434926"/>
            <a:ext cx="5266944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>
                <a:solidFill>
                  <a:schemeClr val="bg1"/>
                </a:solidFill>
              </a:rPr>
              <a:t>NNDL.39 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F4D8AF-4EB9-BE9E-A276-0F846301C3A3}"/>
              </a:ext>
            </a:extLst>
          </p:cNvPr>
          <p:cNvSpPr txBox="1"/>
          <p:nvPr/>
        </p:nvSpPr>
        <p:spPr>
          <a:xfrm>
            <a:off x="24485600" y="1424309"/>
            <a:ext cx="10554208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Course ID : ECE525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4081760" cy="102412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5029200"/>
            <a:ext cx="14081760" cy="960120"/>
          </a:xfrm>
          <a:prstGeom prst="rect">
            <a:avLst/>
          </a:prstGeom>
          <a:solidFill>
            <a:srgbClr val="C8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rIns="120000" rtlCol="0" anchor="ctr"/>
          <a:lstStyle/>
          <a:p>
            <a:pPr algn="l"/>
            <a:r>
              <a:rPr sz="2800" b="1">
                <a:solidFill>
                  <a:srgbClr val="212529"/>
                </a:solidFill>
                <a:latin typeface="Calibri"/>
              </a:rPr>
              <a:t>A.  Motivation &amp;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13350240" cy="146304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212529"/>
                </a:solidFill>
                <a:latin typeface="Calibri"/>
              </a:rPr>
              <a:t>Customer churn -- a paying subscriber leaving a service -- is one of the most costly problems in telecom.</a:t>
            </a:r>
          </a:p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212529"/>
                </a:solidFill>
                <a:latin typeface="Calibri"/>
              </a:rPr>
              <a:t>Acquiring a new customer costs 5x-7x more than retaining one, so the ability to identify customers about to leave is directly tied to revenue.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7863840"/>
            <a:ext cx="13350240" cy="50292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2100" b="1" i="0">
                <a:solidFill>
                  <a:srgbClr val="2C3E50"/>
                </a:solidFill>
                <a:latin typeface="Calibri"/>
              </a:rPr>
              <a:t>Why standard ML misses the mark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8366760"/>
            <a:ext cx="133502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20000" bIns="60000" rtlCol="0" anchor="ctr"/>
          <a:lstStyle/>
          <a:p>
            <a:pPr algn="ctr"/>
            <a:r>
              <a:rPr sz="1700" b="1">
                <a:solidFill>
                  <a:srgbClr val="2C3E50"/>
                </a:solidFill>
                <a:latin typeface="Calibri"/>
              </a:rPr>
              <a:t>Imbalanced labels</a:t>
            </a:r>
          </a:p>
          <a:p>
            <a:pPr>
              <a:lnSpc>
                <a:spcPct val="110000"/>
              </a:lnSpc>
            </a:pPr>
            <a:r>
              <a:rPr sz="1500">
                <a:solidFill>
                  <a:srgbClr val="212529"/>
                </a:solidFill>
                <a:latin typeface="Calibri"/>
              </a:rPr>
              <a:t>Only 26.6% of customers churn. A 'predict no churn' model gets 73% accuracy and zero business value -- accuracy is the wrong metric.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9345168"/>
            <a:ext cx="133502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20000" bIns="60000" rtlCol="0" anchor="ctr"/>
          <a:lstStyle/>
          <a:p>
            <a:pPr algn="ctr"/>
            <a:r>
              <a:rPr sz="1700" b="1">
                <a:solidFill>
                  <a:srgbClr val="2C3E50"/>
                </a:solidFill>
                <a:latin typeface="Calibri"/>
              </a:rPr>
              <a:t>Asymmetric cost</a:t>
            </a:r>
          </a:p>
          <a:p>
            <a:pPr>
              <a:lnSpc>
                <a:spcPct val="110000"/>
              </a:lnSpc>
            </a:pPr>
            <a:r>
              <a:rPr sz="1500">
                <a:solidFill>
                  <a:srgbClr val="212529"/>
                </a:solidFill>
                <a:latin typeface="Calibri"/>
              </a:rPr>
              <a:t>Missing a churner costs ~$1,500 in lost lifetime value; a false alarm costs ~$50 in retention outreach. False negatives are 30x more expensive than false positives.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10323576"/>
            <a:ext cx="133502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20000" bIns="60000" rtlCol="0" anchor="ctr"/>
          <a:lstStyle/>
          <a:p>
            <a:pPr algn="ctr"/>
            <a:r>
              <a:rPr sz="1700" b="1">
                <a:solidFill>
                  <a:srgbClr val="2C3E50"/>
                </a:solidFill>
                <a:latin typeface="Calibri"/>
              </a:rPr>
              <a:t>Threshold blindness</a:t>
            </a:r>
          </a:p>
          <a:p>
            <a:pPr>
              <a:lnSpc>
                <a:spcPct val="110000"/>
              </a:lnSpc>
            </a:pPr>
            <a:r>
              <a:rPr sz="1500">
                <a:solidFill>
                  <a:srgbClr val="212529"/>
                </a:solidFill>
                <a:latin typeface="Calibri"/>
              </a:rPr>
              <a:t>Default 0.5 cutoffs ignore both imbalance and cost, so a 'good' model can still be a poor business tool. The decision threshold needs to be tuned -- not assumed.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1393424"/>
            <a:ext cx="13350240" cy="50292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2100" b="1" i="0">
                <a:solidFill>
                  <a:srgbClr val="2C3E50"/>
                </a:solidFill>
                <a:latin typeface="Calibri"/>
              </a:rPr>
              <a:t>Our 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11896344"/>
            <a:ext cx="13350240" cy="164592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1">
                <a:solidFill>
                  <a:srgbClr val="212529"/>
                </a:solidFill>
                <a:latin typeface="Calibri"/>
              </a:rPr>
              <a:t>We build and compare four churn classifiers -- Logistic Regression, a custom MLP, CatBoost, and XGBoost -- under a cost-aware evaluation that ties model probabilities to dollars.</a:t>
            </a:r>
          </a:p>
          <a:p>
            <a:pPr algn="l">
              <a:lnSpc>
                <a:spcPct val="110000"/>
              </a:lnSpc>
            </a:pPr>
            <a:r>
              <a:rPr sz="1700" b="0" i="1">
                <a:solidFill>
                  <a:srgbClr val="212529"/>
                </a:solidFill>
                <a:latin typeface="Calibri"/>
              </a:rPr>
              <a:t>Across all four architectures, choosing the right operating threshold matters more than the choice of model -- and unlocks roughly $370K of net business value per 1,000 customers.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904720" y="5029200"/>
            <a:ext cx="14081760" cy="10241280"/>
          </a:xfrm>
          <a:prstGeom prst="rect">
            <a:avLst/>
          </a:prstGeom>
          <a:solidFill>
            <a:srgbClr val="E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4904720" y="5029200"/>
            <a:ext cx="14081760" cy="960120"/>
          </a:xfrm>
          <a:prstGeom prst="rect">
            <a:avLst/>
          </a:prstGeom>
          <a:solidFill>
            <a:srgbClr val="B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rIns="120000" rtlCol="0" anchor="ctr"/>
          <a:lstStyle/>
          <a:p>
            <a:pPr algn="l"/>
            <a:r>
              <a:rPr sz="2800" b="1">
                <a:solidFill>
                  <a:srgbClr val="212529"/>
                </a:solidFill>
                <a:latin typeface="Calibri"/>
              </a:rPr>
              <a:t>B.  Data &amp; EDA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0" y="6172200"/>
            <a:ext cx="13350240" cy="137160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212529"/>
                </a:solidFill>
                <a:latin typeface="Calibri"/>
              </a:rPr>
              <a:t>IBM Telco Customer Churn  (Kaggle)</a:t>
            </a:r>
          </a:p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212529"/>
                </a:solidFill>
                <a:latin typeface="Calibri"/>
              </a:rPr>
              <a:t>7,032 customers x 19 features after cleaning.</a:t>
            </a:r>
          </a:p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212529"/>
                </a:solidFill>
                <a:latin typeface="Calibri"/>
              </a:rPr>
              <a:t>Demographics, contract, services, monthly + total charges.</a:t>
            </a:r>
          </a:p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212529"/>
                </a:solidFill>
                <a:latin typeface="Calibri"/>
              </a:rPr>
              <a:t>Target: Churn (Yes / No).</a:t>
            </a:r>
          </a:p>
        </p:txBody>
      </p:sp>
      <p:pic>
        <p:nvPicPr>
          <p:cNvPr id="24" name="Picture 23" descr="eda_01_class_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1353" y="7680960"/>
            <a:ext cx="2420885" cy="19202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3013619" y="7680960"/>
            <a:ext cx="5607100" cy="1920240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212529"/>
                </a:solidFill>
                <a:latin typeface="Calibri"/>
              </a:rPr>
              <a:t>Class balance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212529"/>
                </a:solidFill>
                <a:latin typeface="Calibri"/>
              </a:rPr>
              <a:t>5,163 stayed (73%)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212529"/>
                </a:solidFill>
                <a:latin typeface="Calibri"/>
              </a:rPr>
              <a:t>1,869 churned (27%)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212529"/>
                </a:solidFill>
                <a:latin typeface="Calibri"/>
              </a:rPr>
              <a:t>Minority ratio 1 : 2.76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70480" y="9784080"/>
            <a:ext cx="13350240" cy="45720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  <a:latin typeface="Calibri"/>
              </a:rPr>
              <a:t>Top churn drivers</a:t>
            </a:r>
          </a:p>
        </p:txBody>
      </p:sp>
      <p:pic>
        <p:nvPicPr>
          <p:cNvPr id="27" name="Picture 26" descr="eda_02_churn_by_contr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97777" y="10287000"/>
            <a:ext cx="4295644" cy="28346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270480" y="13213080"/>
            <a:ext cx="13350240" cy="155448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12529"/>
                </a:solidFill>
                <a:latin typeface="Calibri"/>
              </a:rPr>
              <a:t>Contract:  month-to-month 43%   vs   two-year  3%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12529"/>
                </a:solidFill>
                <a:latin typeface="Calibri"/>
              </a:rPr>
              <a:t>Tenure:  churners cluster in the first 12 months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12529"/>
                </a:solidFill>
                <a:latin typeface="Calibri"/>
              </a:rPr>
              <a:t>Internet:  fiber 42%   vs   DSL 19%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12529"/>
                </a:solidFill>
                <a:latin typeface="Calibri"/>
              </a:rPr>
              <a:t>Payment:  electronic check 45%   vs   auto-pay &lt;20%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352240" y="5029200"/>
            <a:ext cx="14081760" cy="10241280"/>
          </a:xfrm>
          <a:prstGeom prst="rect">
            <a:avLst/>
          </a:prstGeom>
          <a:solidFill>
            <a:srgbClr val="E8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9352240" y="5029200"/>
            <a:ext cx="14081760" cy="960120"/>
          </a:xfrm>
          <a:prstGeom prst="rect">
            <a:avLst/>
          </a:prstGeom>
          <a:solidFill>
            <a:srgbClr val="C4D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rIns="120000" rtlCol="0" anchor="ctr"/>
          <a:lstStyle/>
          <a:p>
            <a:pPr algn="l"/>
            <a:r>
              <a:rPr sz="2800" b="1">
                <a:solidFill>
                  <a:srgbClr val="212529"/>
                </a:solidFill>
                <a:latin typeface="Calibri"/>
              </a:rPr>
              <a:t>C.  Methodology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0" y="6126480"/>
            <a:ext cx="13350240" cy="137160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212529"/>
                </a:solidFill>
                <a:latin typeface="Calibri"/>
              </a:rPr>
              <a:t>We compare four models under one disciplined pipeline so differences come from architecture, not preprocessing.</a:t>
            </a:r>
          </a:p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212529"/>
                </a:solidFill>
                <a:latin typeface="Calibri"/>
              </a:rPr>
              <a:t>All models share the same stratified split, the same train-only scaling, and the same validation-tuned threshold.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718000" y="7543800"/>
            <a:ext cx="133502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300" b="1">
                <a:solidFill>
                  <a:srgbClr val="212529"/>
                </a:solidFill>
                <a:latin typeface="Calibri"/>
              </a:rPr>
              <a:t>Raw CSV  (7,032 customers x 21 cols)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36255960" y="8001000"/>
            <a:ext cx="274320" cy="164592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9718000" y="8183879"/>
            <a:ext cx="1335024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200" b="1">
                <a:solidFill>
                  <a:srgbClr val="212529"/>
                </a:solidFill>
                <a:latin typeface="Calibri"/>
              </a:rPr>
              <a:t>Clean: drop customerID, fix TotalCharges     One-hot encode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36255960" y="8686800"/>
            <a:ext cx="274320" cy="164592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29718000" y="8869680"/>
            <a:ext cx="13350240" cy="594360"/>
          </a:xfrm>
          <a:prstGeom prst="roundRect">
            <a:avLst/>
          </a:prstGeom>
          <a:solidFill>
            <a:srgbClr val="FFF8DC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300" b="1">
                <a:solidFill>
                  <a:srgbClr val="212529"/>
                </a:solidFill>
                <a:latin typeface="Calibri"/>
              </a:rPr>
              <a:t>Stratified split  70 / 15 / 15</a:t>
            </a:r>
            <a:br/>
            <a:r>
              <a:rPr sz="1300" b="1">
                <a:solidFill>
                  <a:srgbClr val="212529"/>
                </a:solidFill>
                <a:latin typeface="Calibri"/>
              </a:rPr>
              <a:t>Fit StandardScaler on TRAIN only  (no leakage)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36255960" y="9464040"/>
            <a:ext cx="274320" cy="164592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29718000" y="9646919"/>
            <a:ext cx="3268979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100" b="1">
                <a:solidFill>
                  <a:srgbClr val="212529"/>
                </a:solidFill>
                <a:latin typeface="Calibri"/>
              </a:rPr>
              <a:t>Logistic</a:t>
            </a:r>
            <a:br/>
            <a:r>
              <a:rPr sz="1100" b="1">
                <a:solidFill>
                  <a:srgbClr val="212529"/>
                </a:solidFill>
                <a:latin typeface="Calibri"/>
              </a:rPr>
              <a:t>Regression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078419" y="9646919"/>
            <a:ext cx="3268979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100" b="1">
                <a:solidFill>
                  <a:srgbClr val="212529"/>
                </a:solidFill>
                <a:latin typeface="Calibri"/>
              </a:rPr>
              <a:t>Custom</a:t>
            </a:r>
            <a:br/>
            <a:r>
              <a:rPr sz="1100" b="1">
                <a:solidFill>
                  <a:srgbClr val="212529"/>
                </a:solidFill>
                <a:latin typeface="Calibri"/>
              </a:rPr>
              <a:t>MLP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438840" y="9646919"/>
            <a:ext cx="3268979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100" b="1">
                <a:solidFill>
                  <a:srgbClr val="212529"/>
                </a:solidFill>
                <a:latin typeface="Calibri"/>
              </a:rPr>
              <a:t>CatBoost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799260" y="9646919"/>
            <a:ext cx="3268979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100" b="1">
                <a:solidFill>
                  <a:srgbClr val="212529"/>
                </a:solidFill>
                <a:latin typeface="Calibri"/>
              </a:rPr>
              <a:t>XGBoost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36255960" y="10149840"/>
            <a:ext cx="274320" cy="164592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29718000" y="10332719"/>
            <a:ext cx="13350240" cy="457200"/>
          </a:xfrm>
          <a:prstGeom prst="roundRect">
            <a:avLst/>
          </a:prstGeom>
          <a:solidFill>
            <a:srgbClr val="FFF8DC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300" b="1">
                <a:solidFill>
                  <a:srgbClr val="212529"/>
                </a:solidFill>
                <a:latin typeface="Calibri"/>
              </a:rPr>
              <a:t>Tune threshold on VALIDATION  (max F1)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36255960" y="10789919"/>
            <a:ext cx="274320" cy="164592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29718000" y="10972799"/>
            <a:ext cx="13350240" cy="457200"/>
          </a:xfrm>
          <a:prstGeom prst="roundRect">
            <a:avLst/>
          </a:prstGeom>
          <a:solidFill>
            <a:srgbClr val="C4D5B5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300" b="1">
                <a:solidFill>
                  <a:srgbClr val="212529"/>
                </a:solidFill>
                <a:latin typeface="Calibri"/>
              </a:rPr>
              <a:t>Test metrics  +  Cost-aware $ analysis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718000" y="11612879"/>
            <a:ext cx="13350240" cy="45720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  <a:latin typeface="Calibri"/>
              </a:rPr>
              <a:t>The four models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718000" y="12070079"/>
            <a:ext cx="13350240" cy="201168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Logistic Regression -- linear, interpretable baseline (class_weight = balanced).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Custom MLP (course requirement) -- 128 -&gt; 64 -&gt; 1, ReLU + Dropout 0.2; weighted BCE; Adam + early stopping.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CatBoost / XGBoost -- gradient-boosted trees, grid search on validation PR-AUC.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Evaluation: F1, ROC-AUC, PR-AUC, Brier score, and $ value (FN $1,500 / FP $50).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15544800"/>
            <a:ext cx="21236940" cy="9875520"/>
          </a:xfrm>
          <a:prstGeom prst="rect">
            <a:avLst/>
          </a:prstGeom>
          <a:solidFill>
            <a:srgbClr val="F6E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57200" y="15544800"/>
            <a:ext cx="21236940" cy="960120"/>
          </a:xfrm>
          <a:prstGeom prst="rect">
            <a:avLst/>
          </a:prstGeom>
          <a:solidFill>
            <a:srgbClr val="E6D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rIns="120000" rtlCol="0" anchor="ctr"/>
          <a:lstStyle/>
          <a:p>
            <a:pPr algn="l"/>
            <a:r>
              <a:rPr sz="2800" b="1">
                <a:solidFill>
                  <a:srgbClr val="212529"/>
                </a:solidFill>
                <a:latin typeface="Calibri"/>
              </a:rPr>
              <a:t>D.  Results -- Model Comparison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16687800"/>
            <a:ext cx="20505420" cy="137160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1">
                <a:solidFill>
                  <a:srgbClr val="212529"/>
                </a:solidFill>
                <a:latin typeface="Calibri"/>
              </a:rPr>
              <a:t>All four models were trained on identical features and splits, then scored on the held-out test set with a validation-tuned threshold (max F1).</a:t>
            </a:r>
          </a:p>
          <a:p>
            <a:pPr algn="l">
              <a:lnSpc>
                <a:spcPct val="110000"/>
              </a:lnSpc>
            </a:pPr>
            <a:r>
              <a:rPr sz="1700" b="0" i="1">
                <a:solidFill>
                  <a:srgbClr val="212529"/>
                </a:solidFill>
                <a:latin typeface="Calibri"/>
              </a:rPr>
              <a:t>The story is more interesting than 'pick the best F1' -- the gap between models is small, and the custom MLP does not beat logistic regression on this small one-hot dataset.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822960" y="18196560"/>
          <a:ext cx="205054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9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9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9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9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29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Brier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212529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12529"/>
                          </a:solidFill>
                          <a:latin typeface="Calibri"/>
                        </a:rPr>
                        <a:t>0.624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12529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12529"/>
                          </a:solidFill>
                          <a:latin typeface="Calibri"/>
                        </a:rPr>
                        <a:t>0.642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12529"/>
                          </a:solidFill>
                          <a:latin typeface="Calibri"/>
                        </a:rPr>
                        <a:t>0.139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12529"/>
                          </a:solidFill>
                          <a:latin typeface="Calibri"/>
                        </a:rPr>
                        <a:t>0.768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12529"/>
                          </a:solidFill>
                          <a:latin typeface="Calibri"/>
                        </a:rPr>
                        <a:t>0.526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0.610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0.831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0.591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0.176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0.746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0.516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MLP (custom NN)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0.603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0.826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0.592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0.177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0.789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0.488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822960" y="20436839"/>
            <a:ext cx="20505420" cy="91440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2C3E50"/>
                </a:solidFill>
                <a:latin typeface="Calibri"/>
              </a:rPr>
              <a:t>CatBoost wins on F1 and calibration; XGBoost ties on PR-AUC. MLP does not beat logistic regression -- a known result for small one-hot tabular data, and itself a finding.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2497" y="21396960"/>
            <a:ext cx="8926345" cy="36576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22960" y="25008840"/>
            <a:ext cx="20505420" cy="36576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ctr"/>
            <a:r>
              <a:rPr sz="1200" b="0" i="1">
                <a:solidFill>
                  <a:srgbClr val="5F6A76"/>
                </a:solidFill>
                <a:latin typeface="Calibri"/>
              </a:rPr>
              <a:t>ROC and Precision-Recall curves on test set -- ranking quality independent of any single threshold.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197060" y="15544800"/>
            <a:ext cx="21236940" cy="9875520"/>
          </a:xfrm>
          <a:prstGeom prst="rect">
            <a:avLst/>
          </a:prstGeom>
          <a:solidFill>
            <a:srgbClr val="E5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2197060" y="15544800"/>
            <a:ext cx="21236940" cy="960120"/>
          </a:xfrm>
          <a:prstGeom prst="rect">
            <a:avLst/>
          </a:prstGeom>
          <a:solidFill>
            <a:srgbClr val="BDC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rIns="120000" rtlCol="0" anchor="ctr"/>
          <a:lstStyle/>
          <a:p>
            <a:pPr algn="l"/>
            <a:r>
              <a:rPr sz="2800" b="1">
                <a:solidFill>
                  <a:srgbClr val="212529"/>
                </a:solidFill>
                <a:latin typeface="Calibri"/>
              </a:rPr>
              <a:t>E.  Results -- Cost-Aware Analysis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562820" y="16687800"/>
            <a:ext cx="20505420" cy="155448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1">
                <a:solidFill>
                  <a:srgbClr val="212529"/>
                </a:solidFill>
                <a:latin typeface="Calibri"/>
              </a:rPr>
              <a:t>We translate model probabilities into business value by sweeping the decision threshold under realistic costs:  $1,500 for a missed churner (FN), $50 for a false alarm (FP).</a:t>
            </a:r>
          </a:p>
          <a:p>
            <a:pPr algn="l">
              <a:lnSpc>
                <a:spcPct val="110000"/>
              </a:lnSpc>
            </a:pPr>
            <a:r>
              <a:rPr sz="1700" b="0" i="1">
                <a:solidFill>
                  <a:srgbClr val="212529"/>
                </a:solidFill>
                <a:latin typeface="Calibri"/>
              </a:rPr>
              <a:t>Net Value  =  TP * $1,500  -  FP * $50.    The optimum is chosen on validation only, then evaluated on test.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562820" y="18379440"/>
            <a:ext cx="20505420" cy="1188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tlCol="0" anchor="ctr"/>
          <a:lstStyle/>
          <a:p>
            <a:pPr algn="ctr"/>
            <a:r>
              <a:rPr sz="4000" b="1">
                <a:solidFill>
                  <a:srgbClr val="1F6F7A"/>
                </a:solidFill>
                <a:latin typeface="Calibri"/>
              </a:rPr>
              <a:t>~ $370K</a:t>
            </a:r>
          </a:p>
          <a:p>
            <a:pPr algn="ctr"/>
            <a:r>
              <a:rPr sz="1600" i="1">
                <a:solidFill>
                  <a:srgbClr val="2C3E50"/>
                </a:solidFill>
                <a:latin typeface="Calibri"/>
              </a:rPr>
              <a:t>net business value per 1,000 customers when the threshold is tuned</a:t>
            </a: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22562820" y="19751040"/>
          <a:ext cx="205054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5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5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5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Optimal threshold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Net value / 1,000 customers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$371,043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0.09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$370,616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$370,142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MLP (custom NN)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$368,910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22562820" y="21808440"/>
            <a:ext cx="20505420" cy="50292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1">
                <a:solidFill>
                  <a:srgbClr val="7B2D40"/>
                </a:solidFill>
                <a:latin typeface="Calibri"/>
              </a:rPr>
              <a:t>Realistic constraint:  if retention can contact only the top 20% riskiest customers,</a:t>
            </a:r>
          </a:p>
          <a:p>
            <a:pPr algn="l">
              <a:lnSpc>
                <a:spcPct val="110000"/>
              </a:lnSpc>
            </a:pPr>
            <a:r>
              <a:rPr sz="1400" b="0" i="1">
                <a:solidFill>
                  <a:srgbClr val="7B2D40"/>
                </a:solidFill>
                <a:latin typeface="Calibri"/>
              </a:rPr>
              <a:t>CatBoost still delivers $175,687 / 1,000 at threshold 0.54 -- the best constrained option.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24628" y="22631400"/>
            <a:ext cx="4389742" cy="2606040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35459060" y="22631400"/>
            <a:ext cx="7609179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20000" rIns="150000" bIns="120000" rtlCol="0" anchor="ctr"/>
          <a:lstStyle/>
          <a:p>
            <a:pPr algn="ctr"/>
            <a:r>
              <a:rPr sz="1600" b="1" i="0">
                <a:solidFill>
                  <a:srgbClr val="2C3E50"/>
                </a:solidFill>
                <a:latin typeface="Calibri"/>
              </a:rPr>
              <a:t>Counterfactual</a:t>
            </a:r>
          </a:p>
          <a:p>
            <a:pPr algn="ctr"/>
            <a:r>
              <a:rPr sz="1300" b="0" i="1">
                <a:solidFill>
                  <a:srgbClr val="5F6A76"/>
                </a:solidFill>
                <a:latin typeface="Calibri"/>
              </a:rPr>
              <a:t>From probability to action</a:t>
            </a:r>
          </a:p>
          <a:p>
            <a:pPr algn="ctr"/>
            <a:endParaRPr sz="1300" b="0" i="1">
              <a:solidFill>
                <a:srgbClr val="5F6A76"/>
              </a:solidFill>
              <a:latin typeface="Calibri"/>
            </a:endParaRPr>
          </a:p>
          <a:p>
            <a:pPr algn="ctr"/>
            <a:r>
              <a:rPr sz="1400" b="1" i="0">
                <a:solidFill>
                  <a:srgbClr val="212529"/>
                </a:solidFill>
                <a:latin typeface="Calibri"/>
              </a:rPr>
              <a:t>Highest-risk customer:</a:t>
            </a:r>
          </a:p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predicted churn  =  0.93</a:t>
            </a:r>
          </a:p>
          <a:p>
            <a:pPr algn="ctr"/>
            <a:endParaRPr sz="1400" b="0" i="0">
              <a:solidFill>
                <a:srgbClr val="212529"/>
              </a:solidFill>
              <a:latin typeface="Calibri"/>
            </a:endParaRPr>
          </a:p>
          <a:p>
            <a:pPr algn="ctr"/>
            <a:r>
              <a:rPr sz="1400" b="1" i="0">
                <a:solidFill>
                  <a:srgbClr val="212529"/>
                </a:solidFill>
                <a:latin typeface="Calibri"/>
              </a:rPr>
              <a:t>Switch InternetService:</a:t>
            </a:r>
          </a:p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Fiber optic  -&gt;  No internet</a:t>
            </a:r>
          </a:p>
          <a:p>
            <a:pPr algn="ctr"/>
            <a:endParaRPr sz="1300" b="0" i="0">
              <a:solidFill>
                <a:srgbClr val="212529"/>
              </a:solidFill>
              <a:latin typeface="Calibri"/>
            </a:endParaRPr>
          </a:p>
          <a:p>
            <a:pPr algn="ctr"/>
            <a:r>
              <a:rPr sz="1600" b="1" i="0">
                <a:solidFill>
                  <a:srgbClr val="1F6F7A"/>
                </a:solidFill>
                <a:latin typeface="Calibri"/>
              </a:rPr>
              <a:t>predicted churn  =  0.82</a:t>
            </a:r>
          </a:p>
          <a:p>
            <a:pPr algn="ctr"/>
            <a:endParaRPr sz="1600" b="1" i="0">
              <a:solidFill>
                <a:srgbClr val="1F6F7A"/>
              </a:solidFill>
              <a:latin typeface="Calibri"/>
            </a:endParaRPr>
          </a:p>
          <a:p>
            <a:pPr algn="ctr"/>
            <a:r>
              <a:rPr sz="1200" b="0" i="0">
                <a:solidFill>
                  <a:srgbClr val="5F6A76"/>
                </a:solidFill>
                <a:latin typeface="Calibri"/>
              </a:rPr>
              <a:t>(-11 pp -- a specific lever)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25648920"/>
            <a:ext cx="21236940" cy="5577840"/>
          </a:xfrm>
          <a:prstGeom prst="rect">
            <a:avLst/>
          </a:prstGeom>
          <a:solidFill>
            <a:srgbClr val="ED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57200" y="25648920"/>
            <a:ext cx="21236940" cy="960120"/>
          </a:xfrm>
          <a:prstGeom prst="rect">
            <a:avLst/>
          </a:prstGeom>
          <a:solidFill>
            <a:srgbClr val="C9B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rIns="120000" rtlCol="0" anchor="ctr"/>
          <a:lstStyle/>
          <a:p>
            <a:pPr algn="l"/>
            <a:r>
              <a:rPr sz="2800" b="1">
                <a:solidFill>
                  <a:srgbClr val="212529"/>
                </a:solidFill>
                <a:latin typeface="Calibri"/>
              </a:rPr>
              <a:t>F.  What Drives Churn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1202" y="26746200"/>
            <a:ext cx="4941496" cy="4206239"/>
          </a:xfrm>
          <a:prstGeom prst="rect">
            <a:avLst/>
          </a:prstGeom>
        </p:spPr>
      </p:pic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12375261" y="26746200"/>
          <a:ext cx="8953118" cy="3280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6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1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Top driver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Importance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10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tenure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21.4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10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Contract  =  Two year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14.4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10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InternetService  =  Fiber optic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13.0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10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TotalCharges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 7.6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10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MonthlyCharges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 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10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Contract  =  One year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 4.8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111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PaymentMethod  =  Electronic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 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7" name="TextBox 66"/>
          <p:cNvSpPr txBox="1"/>
          <p:nvPr/>
        </p:nvSpPr>
        <p:spPr>
          <a:xfrm>
            <a:off x="12375261" y="30111192"/>
            <a:ext cx="8953118" cy="841247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212529"/>
                </a:solidFill>
                <a:latin typeface="Calibri"/>
              </a:rPr>
              <a:t>These match the EDA findings and align with industry intuition: short tenure, no long-term contract, fiber, and electronic-check are the strongest churn signals.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197060" y="25648920"/>
            <a:ext cx="21236940" cy="5577840"/>
          </a:xfrm>
          <a:prstGeom prst="rect">
            <a:avLst/>
          </a:prstGeom>
          <a:solidFill>
            <a:srgbClr val="F1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22197060" y="25648920"/>
            <a:ext cx="21236940" cy="960120"/>
          </a:xfrm>
          <a:prstGeom prst="rect">
            <a:avLst/>
          </a:prstGeom>
          <a:solidFill>
            <a:srgbClr val="DCC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rIns="120000" rtlCol="0" anchor="ctr"/>
          <a:lstStyle/>
          <a:p>
            <a:pPr algn="l"/>
            <a:r>
              <a:rPr sz="2800" b="1">
                <a:solidFill>
                  <a:srgbClr val="212529"/>
                </a:solidFill>
                <a:latin typeface="Calibri"/>
              </a:rPr>
              <a:t>G.  Conclusions &amp; Next Steps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562820" y="26746200"/>
            <a:ext cx="20505420" cy="45720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  <a:latin typeface="Calibri"/>
              </a:rPr>
              <a:t>Findings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562820" y="27249120"/>
            <a:ext cx="20505420" cy="274320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1.  CatBoost is the strongest classifier (F1 0.624, ROC-AUC 0.841, lowest Brier 0.139).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2.  Custom MLP does not beat logistic regression -- nonlinearity adds little on small one-hot tabular data.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3.  Cost-aware threshold tuning is the dominant lever -- all four models recover ~$370K per 1,000 customers; architecture changes the result by &lt; 1%.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4.  Counterfactuals turn probabilities into specific retention actions (e.g., contract upgrade, internet downgrade).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562820" y="30083760"/>
            <a:ext cx="20505420" cy="45720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  <a:latin typeface="Calibri"/>
              </a:rPr>
              <a:t>Next steps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562820" y="30586679"/>
            <a:ext cx="20505420" cy="128016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Stacking ensemble  -  cost-sensitive loss inside MLP training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Monthly recalibration  -  live A / B test of the threshold in the retention pipeline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31501080"/>
            <a:ext cx="42976800" cy="1188720"/>
          </a:xfrm>
          <a:prstGeom prst="rect">
            <a:avLst/>
          </a:prstGeom>
          <a:solidFill>
            <a:srgbClr val="E8EBEF"/>
          </a:solidFill>
          <a:ln w="9525">
            <a:solidFill>
              <a:srgbClr val="5F6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31520" y="31592520"/>
            <a:ext cx="42428160" cy="36576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  <a:latin typeface="Calibri"/>
              </a:rPr>
              <a:t>References &amp; Acknowledgements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31958280"/>
            <a:ext cx="42428160" cy="68580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[1] Verbeke, W. et al. (2012). New insights into churn prediction in telecommunications. Eur. J. Op. Res., 218(1), 211-229.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[2] Prokhorenkova, L. et al. (2018). CatBoost: unbiased boosting with categorical features. NeurIPS.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[3] Chen, T. &amp; Guestrin, C. (2016). XGBoost: a scalable tree-boosting system. KDD.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Dataset:  IBM Telco Customer Churn (Kaggle:  blastchar/telco-customer-churn).    Acknowledgements:  Dr. Edgar Lobaton (instructor, ECE 525, NC State University).</a:t>
            </a:r>
          </a:p>
        </p:txBody>
      </p:sp>
    </p:spTree>
    <p:extLst>
      <p:ext uri="{BB962C8B-B14F-4D97-AF65-F5344CB8AC3E}">
        <p14:creationId xmlns:p14="http://schemas.microsoft.com/office/powerpoint/2010/main" val="499407632"/>
      </p:ext>
    </p:extLst>
  </p:cSld>
  <p:clrMapOvr>
    <a:masterClrMapping/>
  </p:clrMapOvr>
</p:sld>
</file>

<file path=ppt/theme/theme1.xml><?xml version="1.0" encoding="utf-8"?>
<a:theme xmlns:a="http://schemas.openxmlformats.org/drawingml/2006/main" name="NCState-Presentation-36x48">
  <a:themeElements>
    <a:clrScheme name="NC State Colors">
      <a:dk1>
        <a:srgbClr val="1A1718"/>
      </a:dk1>
      <a:lt1>
        <a:sysClr val="window" lastClr="FFFFFF"/>
      </a:lt1>
      <a:dk2>
        <a:srgbClr val="313133"/>
      </a:dk2>
      <a:lt2>
        <a:srgbClr val="DFE0E1"/>
      </a:lt2>
      <a:accent1>
        <a:srgbClr val="D7002A"/>
      </a:accent1>
      <a:accent2>
        <a:srgbClr val="175AA3"/>
      </a:accent2>
      <a:accent3>
        <a:srgbClr val="ACB519"/>
      </a:accent3>
      <a:accent4>
        <a:srgbClr val="B4001C"/>
      </a:accent4>
      <a:accent5>
        <a:srgbClr val="FFE04C"/>
      </a:accent5>
      <a:accent6>
        <a:srgbClr val="E0703C"/>
      </a:accent6>
      <a:hlink>
        <a:srgbClr val="4299B7"/>
      </a:hlink>
      <a:folHlink>
        <a:srgbClr val="175AA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B68B94EE-C93F-44B0-B0EA-331121112AF1}" vid="{52936D81-9774-46E2-A1BE-EFCE3581B9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6F2769-7194-4217-93D3-3AF3A4742282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</ds:schemaRefs>
</ds:datastoreItem>
</file>

<file path=customXml/itemProps3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Poster Template</Template>
  <TotalTime>220</TotalTime>
  <Words>1161</Words>
  <Application>Microsoft Office PowerPoint</Application>
  <PresentationFormat>Custom</PresentationFormat>
  <Paragraphs>157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NCState-Presentation-36x48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 Vathsa Kashyap</dc:creator>
  <cp:lastModifiedBy>Sree Vathsa Kashyap</cp:lastModifiedBy>
  <cp:revision>4</cp:revision>
  <dcterms:created xsi:type="dcterms:W3CDTF">2026-04-29T18:04:57Z</dcterms:created>
  <dcterms:modified xsi:type="dcterms:W3CDTF">2026-04-29T22:14:13Z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
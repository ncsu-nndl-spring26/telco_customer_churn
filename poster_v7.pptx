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36" y="-239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NNDL.39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486400"/>
            <a:ext cx="12801600" cy="10149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486400"/>
            <a:ext cx="12801600" cy="118872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A. 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858000"/>
            <a:ext cx="1207008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212529"/>
                </a:solidFill>
                <a:latin typeface="Calibri"/>
              </a:rPr>
              <a:t>Customer churn -- a paying subscriber leaving a service -- is one of the most costly problems in telecom.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212529"/>
                </a:solidFill>
                <a:latin typeface="Calibri"/>
              </a:rPr>
              <a:t>Acquiring a new customer costs 5x-7x more than retaining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183879"/>
            <a:ext cx="1207008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Why standard ML misses the 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8778240"/>
            <a:ext cx="12070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200" b="1">
                <a:solidFill>
                  <a:srgbClr val="2C3E50"/>
                </a:solidFill>
                <a:latin typeface="Calibri"/>
              </a:rPr>
              <a:t>Imbalanced labels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212529"/>
                </a:solidFill>
                <a:latin typeface="Calibri"/>
              </a:rPr>
              <a:t>Only 26.6% of customers churn -- accuracy is the wrong metric.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0268712"/>
            <a:ext cx="12070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200" b="1">
                <a:solidFill>
                  <a:srgbClr val="2C3E50"/>
                </a:solidFill>
                <a:latin typeface="Calibri"/>
              </a:rPr>
              <a:t>Asymmetric cost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212529"/>
                </a:solidFill>
                <a:latin typeface="Calibri"/>
              </a:rPr>
              <a:t>Missing a churner costs ~$1,500;  a false alarm ~$50.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212529"/>
                </a:solidFill>
                <a:latin typeface="Calibri"/>
              </a:rPr>
              <a:t>False negatives are 30x worse.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1759184"/>
            <a:ext cx="12070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200" b="1">
                <a:solidFill>
                  <a:srgbClr val="2C3E50"/>
                </a:solidFill>
                <a:latin typeface="Calibri"/>
              </a:rPr>
              <a:t>Threshold blindness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212529"/>
                </a:solidFill>
                <a:latin typeface="Calibri"/>
              </a:rPr>
              <a:t>Default 0.5 cutoff ignores both -- the threshold must be tuned, not assumed.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3341095"/>
            <a:ext cx="1207008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Our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935455"/>
            <a:ext cx="12070080" cy="18288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Compare four classifiers -- LR, MLP, CatBoost, XGBoost -- under cost-aware evaluation that ties model probabilities to dollars.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0" y="5486400"/>
            <a:ext cx="16824960" cy="10149840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533120" y="5486400"/>
            <a:ext cx="16824960" cy="118872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B.  Data &amp; 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0" y="6858000"/>
            <a:ext cx="16093439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Dataset:  IBM Telco Customer Churn  (Kaggle)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0" y="7360920"/>
            <a:ext cx="16093439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7,032 customers x 19 features after cleaning.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Demographics, contract, services, monthly + total charges.   Target: Churn (Yes / No).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Class balance:  5,163 stayed (73%)   vs   1,869 churned (27%).   Minority ratio 1 : 2.76.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0" y="8778240"/>
            <a:ext cx="16093439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Top churn drivers  (EDA)</a:t>
            </a:r>
          </a:p>
        </p:txBody>
      </p:sp>
      <p:pic>
        <p:nvPicPr>
          <p:cNvPr id="26" name="Picture 25" descr="eda_02_churn_by_contr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66362" y="9372600"/>
            <a:ext cx="5958474" cy="3931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0" y="13441680"/>
            <a:ext cx="16093439" cy="1554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Contract:   month-to-month  43%   vs   two-year  3%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Tenure:   churners cluster in the first 12 months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Internet:   fiber 42%   vs   DSL 19%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212529"/>
                </a:solidFill>
                <a:latin typeface="Calibri"/>
              </a:rPr>
              <a:t>Payment:   electronic check 45%   vs   auto-pay &lt;20%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723840" y="5486400"/>
            <a:ext cx="12801600" cy="1014984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723840" y="5486400"/>
            <a:ext cx="12801600" cy="118872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C. 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0" y="6812280"/>
            <a:ext cx="12070080" cy="11887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212529"/>
                </a:solidFill>
                <a:latin typeface="Calibri"/>
              </a:rPr>
              <a:t>One disciplined pipeline -- differences come from architecture, not preprocessing.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0" y="7909560"/>
            <a:ext cx="12070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700" b="1">
                <a:solidFill>
                  <a:srgbClr val="212529"/>
                </a:solidFill>
                <a:latin typeface="Calibri"/>
              </a:rPr>
              <a:t>Raw CSV  (7,032 customers)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6978336" y="8412480"/>
            <a:ext cx="292608" cy="182880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1089600" y="8613648"/>
            <a:ext cx="120700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Clean  +  one-hot encode</a:t>
            </a:r>
            <a:br/>
            <a:r>
              <a:rPr sz="1400" b="1">
                <a:solidFill>
                  <a:srgbClr val="212529"/>
                </a:solidFill>
                <a:latin typeface="Calibri"/>
              </a:rPr>
              <a:t>(drop ID, fix TotalCharges)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6978336" y="9208008"/>
            <a:ext cx="292608" cy="182880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089600" y="9409176"/>
            <a:ext cx="12070080" cy="6858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Stratified split  70 / 15 / 15</a:t>
            </a:r>
            <a:br/>
            <a:r>
              <a:rPr sz="1400" b="1">
                <a:solidFill>
                  <a:srgbClr val="212529"/>
                </a:solidFill>
                <a:latin typeface="Calibri"/>
              </a:rPr>
              <a:t>Fit StandardScaler on TRAIN only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36978336" y="10094976"/>
            <a:ext cx="292608" cy="182880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1089600" y="10296144"/>
            <a:ext cx="29489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Logistic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Reg.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129980" y="10296144"/>
            <a:ext cx="29489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Custom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MLP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170360" y="10296144"/>
            <a:ext cx="29489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Cat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Boost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10740" y="10296144"/>
            <a:ext cx="29489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XG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Boost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6978336" y="10890504"/>
            <a:ext cx="292608" cy="182880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089600" y="11091672"/>
            <a:ext cx="12070080" cy="50292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Tune threshold on VAL  (max F1)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36978336" y="11594592"/>
            <a:ext cx="292608" cy="182880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1089600" y="11795760"/>
            <a:ext cx="12070080" cy="50292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Test metrics  +  Cost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0" y="12481560"/>
            <a:ext cx="1207008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The four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0" y="13030200"/>
            <a:ext cx="12070080" cy="22860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LR -- linear baseline (class_weight=balanced).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MLP -- 128 -&gt; 64 -&gt; 1, ReLU + Dropout 0.2;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    weighted BCE; Adam; early stopping.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CatBoost / XGBoost -- gradient-boosted trees,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    grid search on validation PR-AUC.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Metrics: F1, ROC-AUC, PR-AUC, Brier, $ value.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5819120"/>
            <a:ext cx="21396960" cy="1033272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5819120"/>
            <a:ext cx="21396960" cy="118872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4000" b="1">
                <a:solidFill>
                  <a:srgbClr val="212529"/>
                </a:solidFill>
                <a:latin typeface="Calibri"/>
              </a:rPr>
              <a:t>D.  Results -- Model Comparison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7190720"/>
            <a:ext cx="2066544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212529"/>
                </a:solidFill>
                <a:latin typeface="Calibri"/>
              </a:rPr>
              <a:t>All four models trained on identical features and splits, scored on test with a validation-tuned threshold (max F1).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31520" y="18196560"/>
          <a:ext cx="20665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05"/>
                <a:gridCol w="2952205"/>
                <a:gridCol w="2952205"/>
                <a:gridCol w="2952205"/>
                <a:gridCol w="2952205"/>
                <a:gridCol w="2952205"/>
                <a:gridCol w="295221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31520" y="20528280"/>
            <a:ext cx="2066544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2C3E50"/>
                </a:solidFill>
                <a:latin typeface="Calibri"/>
              </a:rPr>
              <a:t>CatBoost wins on F1 + calibration;  XGBoost ties on PR-AUC.   MLP does NOT beat LR -- a meaningful finding.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063" y="21122640"/>
            <a:ext cx="11046352" cy="45262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31520" y="25694640"/>
            <a:ext cx="206654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ctr"/>
            <a:r>
              <a:rPr sz="1500" b="0" i="1">
                <a:solidFill>
                  <a:srgbClr val="5F6A76"/>
                </a:solidFill>
                <a:latin typeface="Calibri"/>
              </a:rPr>
              <a:t>ROC and Precision-Recall curves on test set.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128480" y="15819120"/>
            <a:ext cx="21396960" cy="1033272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28480" y="15819120"/>
            <a:ext cx="21396960" cy="118872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4000" b="1">
                <a:solidFill>
                  <a:srgbClr val="212529"/>
                </a:solidFill>
                <a:latin typeface="Calibri"/>
              </a:rPr>
              <a:t>E.  Cost-Aware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39" y="17190720"/>
            <a:ext cx="2066544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Translate probabilities to dollars: sweep threshold under realistic costs.</a:t>
            </a:r>
          </a:p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FN $1,500     FP $50.    Net Value = TP * $1,500 - FP * $50.    Optimum chosen on validation.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494239" y="18562320"/>
            <a:ext cx="2066544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1F6F7A"/>
                </a:solidFill>
                <a:latin typeface="Calibri"/>
              </a:rPr>
              <a:t>~ $370K</a:t>
            </a:r>
          </a:p>
          <a:p>
            <a:pPr algn="ctr"/>
            <a:r>
              <a:rPr sz="2000" i="1">
                <a:solidFill>
                  <a:srgbClr val="2C3E50"/>
                </a:solidFill>
                <a:latin typeface="Calibri"/>
              </a:rPr>
              <a:t>net business value per 1,000 customers when threshold is tuned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22494239" y="20116800"/>
          <a:ext cx="20665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480"/>
                <a:gridCol w="6888480"/>
                <a:gridCol w="68884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Optimal 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2494239" y="22311360"/>
            <a:ext cx="2066544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7B2D40"/>
                </a:solidFill>
                <a:latin typeface="Calibri"/>
              </a:rPr>
              <a:t>Top-20% capacity constraint:  CatBoost still delivers $175,687 / 1,000 at threshold 0.54.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0589" y="22905719"/>
            <a:ext cx="5159873" cy="30632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35489692" y="22905719"/>
            <a:ext cx="7669987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40000" bIns="140000"/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Counterfactual</a:t>
            </a:r>
          </a:p>
          <a:p>
            <a:pPr algn="ctr"/>
            <a:r>
              <a:rPr sz="1600" b="0" i="1">
                <a:solidFill>
                  <a:srgbClr val="5F6A76"/>
                </a:solidFill>
                <a:latin typeface="Calibri"/>
              </a:rPr>
              <a:t>From probability to action</a:t>
            </a:r>
          </a:p>
          <a:p>
            <a:pPr algn="ctr"/>
          </a:p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Highest-risk customer:</a:t>
            </a:r>
          </a:p>
          <a:p>
            <a:pPr algn="ctr"/>
            <a:r>
              <a:rPr sz="1800" b="0" i="0">
                <a:solidFill>
                  <a:srgbClr val="212529"/>
                </a:solidFill>
                <a:latin typeface="Calibri"/>
              </a:rPr>
              <a:t>predicted churn  =  0.93</a:t>
            </a:r>
          </a:p>
          <a:p>
            <a:pPr algn="ctr"/>
          </a:p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Switch InternetService:</a:t>
            </a:r>
          </a:p>
          <a:p>
            <a:pPr algn="ctr"/>
            <a:r>
              <a:rPr sz="1600" b="0" i="0">
                <a:solidFill>
                  <a:srgbClr val="212529"/>
                </a:solidFill>
                <a:latin typeface="Calibri"/>
              </a:rPr>
              <a:t>Fiber optic -&gt; No internet</a:t>
            </a:r>
          </a:p>
          <a:p>
            <a:pPr algn="ctr"/>
          </a:p>
          <a:p>
            <a:pPr algn="ctr"/>
            <a:r>
              <a:rPr sz="2400" b="1" i="0">
                <a:solidFill>
                  <a:srgbClr val="1F6F7A"/>
                </a:solidFill>
                <a:latin typeface="Calibri"/>
              </a:rPr>
              <a:t>predicted churn  =  0.82</a:t>
            </a:r>
          </a:p>
          <a:p>
            <a:pPr algn="ctr"/>
          </a:p>
          <a:p>
            <a:pPr algn="ctr"/>
            <a:r>
              <a:rPr sz="1500" b="0" i="1">
                <a:solidFill>
                  <a:srgbClr val="5F6A76"/>
                </a:solidFill>
                <a:latin typeface="Calibri"/>
              </a:rPr>
              <a:t>(-11 pp -- a specific lever)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26334720"/>
            <a:ext cx="21396960" cy="4846320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26334720"/>
            <a:ext cx="21396960" cy="118872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394" y="27660600"/>
            <a:ext cx="3920970" cy="3337560"/>
          </a:xfrm>
          <a:prstGeom prst="rect">
            <a:avLst/>
          </a:prstGeom>
        </p:spPr>
      </p:pic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11338560" y="27660600"/>
          <a:ext cx="10058400" cy="260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InternetService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5412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11338560" y="30364023"/>
            <a:ext cx="10058400" cy="634136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12529"/>
                </a:solidFill>
                <a:latin typeface="Calibri"/>
              </a:rPr>
              <a:t>Matches EDA:  short tenure, no long contract, fiber, electronic check are the strongest churn signals.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28480" y="26334720"/>
            <a:ext cx="21396960" cy="4846320"/>
          </a:xfrm>
          <a:prstGeom prst="rect">
            <a:avLst/>
          </a:prstGeom>
          <a:solidFill>
            <a:srgbClr val="D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128480" y="26334720"/>
            <a:ext cx="21396960" cy="1188720"/>
          </a:xfrm>
          <a:prstGeom prst="rect">
            <a:avLst/>
          </a:prstGeom>
          <a:solidFill>
            <a:srgbClr val="A8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94239" y="27706320"/>
            <a:ext cx="2066544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Findings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494239" y="28300680"/>
            <a:ext cx="20665440" cy="31089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1.  CatBoost is the strongest classifier   (F1 0.624, ROC-AUC 0.841, lowest Brier 0.139).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2.  Custom MLP does not beat logistic regression -- nonlinearity adds little on small one-hot data.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3.  Cost-aware threshold tuning is the dominant lever -- all four models recover ~$370K per 1,000 customers; architecture changes the result by &lt; 1%.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4.  Counterfactuals turn probabilities into specific retention actions.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494239" y="31501080"/>
            <a:ext cx="2066544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Next steps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94239" y="32004000"/>
            <a:ext cx="20665440" cy="5486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Stacking ensemble  -  cost-sensitive loss inside MLP  -  monthly recalibration  -  live A/B test of the threshold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1363919"/>
            <a:ext cx="43159680" cy="1325880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31455360"/>
            <a:ext cx="426110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31866839"/>
            <a:ext cx="42611040" cy="822959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Dataset:  IBM Telco Customer Churn (Kaggle: blastchar/telco-customer-churn).    Acknowledgements: 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206</TotalTime>
  <Words>1021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3</cp:revision>
  <dcterms:created xsi:type="dcterms:W3CDTF">2026-04-29T18:04:57Z</dcterms:created>
  <dcterms:modified xsi:type="dcterms:W3CDTF">2026-04-29T21:31:41Z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
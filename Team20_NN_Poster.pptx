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4"/>
  </p:sldMasterIdLst>
  <p:notesMasterIdLst>
    <p:notesMasterId r:id="rId5"/>
  </p:notesMasterIdLst>
  <p:sldIdLst>
    <p:sldId id="256" r:id="rId6"/>
  </p:sldIdLst>
  <p:sldSz cy="32918400" cx="438912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368" orient="horz"/>
        <p:guide pos="138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291840" y="10226042"/>
            <a:ext cx="37307520" cy="705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583680" y="18653760"/>
            <a:ext cx="30723840" cy="841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lvl="0" algn="ctr">
              <a:spcBef>
                <a:spcPts val="2680"/>
              </a:spcBef>
              <a:spcAft>
                <a:spcPts val="0"/>
              </a:spcAft>
              <a:buClr>
                <a:srgbClr val="898989"/>
              </a:buClr>
              <a:buSzPts val="13400"/>
              <a:buNone/>
              <a:defRPr>
                <a:solidFill>
                  <a:srgbClr val="898989"/>
                </a:solidFill>
              </a:defRPr>
            </a:lvl1pPr>
            <a:lvl2pPr lvl="1" algn="ctr">
              <a:spcBef>
                <a:spcPts val="2300"/>
              </a:spcBef>
              <a:spcAft>
                <a:spcPts val="0"/>
              </a:spcAft>
              <a:buClr>
                <a:srgbClr val="898989"/>
              </a:buClr>
              <a:buSzPts val="11500"/>
              <a:buNone/>
              <a:defRPr>
                <a:solidFill>
                  <a:srgbClr val="898989"/>
                </a:solidFill>
              </a:defRPr>
            </a:lvl2pPr>
            <a:lvl3pPr lvl="2" algn="ctr"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>
                <a:solidFill>
                  <a:srgbClr val="898989"/>
                </a:solidFill>
              </a:defRPr>
            </a:lvl3pPr>
            <a:lvl4pPr lvl="3" algn="ctr">
              <a:spcBef>
                <a:spcPts val="1740"/>
              </a:spcBef>
              <a:spcAft>
                <a:spcPts val="0"/>
              </a:spcAft>
              <a:buClr>
                <a:srgbClr val="898989"/>
              </a:buClr>
              <a:buSzPts val="8700"/>
              <a:buNone/>
              <a:defRPr>
                <a:solidFill>
                  <a:srgbClr val="898989"/>
                </a:solidFill>
              </a:defRPr>
            </a:lvl4pPr>
            <a:lvl5pPr lvl="4" algn="ctr">
              <a:spcBef>
                <a:spcPts val="1740"/>
              </a:spcBef>
              <a:spcAft>
                <a:spcPts val="0"/>
              </a:spcAft>
              <a:buClr>
                <a:srgbClr val="898989"/>
              </a:buClr>
              <a:buSzPts val="8700"/>
              <a:buNone/>
              <a:defRPr>
                <a:solidFill>
                  <a:srgbClr val="898989"/>
                </a:solidFill>
              </a:defRPr>
            </a:lvl5pPr>
            <a:lvl6pPr lvl="5" algn="ctr"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>
                <a:solidFill>
                  <a:srgbClr val="898989"/>
                </a:solidFill>
              </a:defRPr>
            </a:lvl6pPr>
            <a:lvl7pPr lvl="6" algn="ctr"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>
                <a:solidFill>
                  <a:srgbClr val="898989"/>
                </a:solidFill>
              </a:defRPr>
            </a:lvl7pPr>
            <a:lvl8pPr lvl="7" algn="ctr"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>
                <a:solidFill>
                  <a:srgbClr val="898989"/>
                </a:solidFill>
              </a:defRPr>
            </a:lvl8pPr>
            <a:lvl9pPr lvl="8" algn="ctr"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>
                <a:solidFill>
                  <a:srgbClr val="89898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2194560" y="8785861"/>
            <a:ext cx="39502080" cy="2172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467101" y="21153122"/>
            <a:ext cx="37307520" cy="653796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0"/>
              <a:buFont typeface="Arial"/>
              <a:buNone/>
              <a:defRPr b="1" sz="19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467101" y="13952226"/>
            <a:ext cx="37307520" cy="7200898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rmAutofit/>
          </a:bodyPr>
          <a:lstStyle>
            <a:lvl1pPr indent="-228600" lvl="0" marL="457200" algn="l"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 sz="9700">
                <a:solidFill>
                  <a:srgbClr val="898989"/>
                </a:solidFill>
              </a:defRPr>
            </a:lvl1pPr>
            <a:lvl2pPr indent="-228600" lvl="1" marL="914400" algn="l">
              <a:spcBef>
                <a:spcPts val="1740"/>
              </a:spcBef>
              <a:spcAft>
                <a:spcPts val="0"/>
              </a:spcAft>
              <a:buClr>
                <a:srgbClr val="898989"/>
              </a:buClr>
              <a:buSzPts val="8700"/>
              <a:buNone/>
              <a:defRPr sz="8700">
                <a:solidFill>
                  <a:srgbClr val="898989"/>
                </a:solidFill>
              </a:defRPr>
            </a:lvl2pPr>
            <a:lvl3pPr indent="-228600" lvl="2" marL="1371600" algn="l">
              <a:spcBef>
                <a:spcPts val="1540"/>
              </a:spcBef>
              <a:spcAft>
                <a:spcPts val="0"/>
              </a:spcAft>
              <a:buClr>
                <a:srgbClr val="898989"/>
              </a:buClr>
              <a:buSzPts val="7700"/>
              <a:buNone/>
              <a:defRPr sz="7700">
                <a:solidFill>
                  <a:srgbClr val="898989"/>
                </a:solidFill>
              </a:defRPr>
            </a:lvl3pPr>
            <a:lvl4pPr indent="-228600" lvl="3" marL="1828800" algn="l"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4pPr>
            <a:lvl5pPr indent="-228600" lvl="4" marL="2286000" algn="l"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5pPr>
            <a:lvl6pPr indent="-228600" lvl="5" marL="2743200" algn="l"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6pPr>
            <a:lvl7pPr indent="-228600" lvl="6" marL="3200400" algn="l"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7pPr>
            <a:lvl8pPr indent="-228600" lvl="7" marL="3657600" algn="l"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8pPr>
            <a:lvl9pPr indent="-228600" lvl="8" marL="4114800" algn="l"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2194560" y="7680964"/>
            <a:ext cx="19385280" cy="2172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1079500" lvl="0" marL="457200" algn="l"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Char char="•"/>
              <a:defRPr sz="13400"/>
            </a:lvl1pPr>
            <a:lvl2pPr indent="-958850" lvl="1" marL="9144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–"/>
              <a:defRPr sz="11500"/>
            </a:lvl2pPr>
            <a:lvl3pPr indent="-844550" lvl="2" marL="13716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3pPr>
            <a:lvl4pPr indent="-781050" lvl="3" marL="18288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–"/>
              <a:defRPr sz="8700"/>
            </a:lvl4pPr>
            <a:lvl5pPr indent="-781050" lvl="4" marL="22860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»"/>
              <a:defRPr sz="8700"/>
            </a:lvl5pPr>
            <a:lvl6pPr indent="-781050" lvl="5" marL="27432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6pPr>
            <a:lvl7pPr indent="-781050" lvl="6" marL="32004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7pPr>
            <a:lvl8pPr indent="-781050" lvl="7" marL="36576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8pPr>
            <a:lvl9pPr indent="-781050" lvl="8" marL="41148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22311360" y="7680964"/>
            <a:ext cx="19385280" cy="2172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1079500" lvl="0" marL="457200" algn="l"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Char char="•"/>
              <a:defRPr sz="13400"/>
            </a:lvl1pPr>
            <a:lvl2pPr indent="-958850" lvl="1" marL="9144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–"/>
              <a:defRPr sz="11500"/>
            </a:lvl2pPr>
            <a:lvl3pPr indent="-844550" lvl="2" marL="13716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3pPr>
            <a:lvl4pPr indent="-781050" lvl="3" marL="18288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–"/>
              <a:defRPr sz="8700"/>
            </a:lvl4pPr>
            <a:lvl5pPr indent="-781050" lvl="4" marL="22860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»"/>
              <a:defRPr sz="8700"/>
            </a:lvl5pPr>
            <a:lvl6pPr indent="-781050" lvl="5" marL="27432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6pPr>
            <a:lvl7pPr indent="-781050" lvl="6" marL="32004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7pPr>
            <a:lvl8pPr indent="-781050" lvl="7" marL="36576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8pPr>
            <a:lvl9pPr indent="-781050" lvl="8" marL="41148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2194562" y="7368543"/>
            <a:ext cx="19392903" cy="3070858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rmAutofit/>
          </a:bodyPr>
          <a:lstStyle>
            <a:lvl1pPr indent="-228600" lvl="0" marL="4572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None/>
              <a:defRPr b="1" sz="11500"/>
            </a:lvl1pPr>
            <a:lvl2pPr indent="-228600" lvl="1" marL="9144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None/>
              <a:defRPr b="1" sz="9700"/>
            </a:lvl2pPr>
            <a:lvl3pPr indent="-228600" lvl="2" marL="13716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None/>
              <a:defRPr b="1" sz="8700"/>
            </a:lvl3pPr>
            <a:lvl4pPr indent="-228600" lvl="3" marL="1828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4pPr>
            <a:lvl5pPr indent="-228600" lvl="4" marL="22860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5pPr>
            <a:lvl6pPr indent="-228600" lvl="5" marL="27432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6pPr>
            <a:lvl7pPr indent="-228600" lvl="6" marL="32004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7pPr>
            <a:lvl8pPr indent="-228600" lvl="7" marL="3657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8pPr>
            <a:lvl9pPr indent="-228600" lvl="8" marL="4114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2194562" y="10439401"/>
            <a:ext cx="19392903" cy="1896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958850" lvl="0" marL="4572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•"/>
              <a:defRPr sz="11500"/>
            </a:lvl1pPr>
            <a:lvl2pPr indent="-844550" lvl="1" marL="9144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–"/>
              <a:defRPr sz="9700"/>
            </a:lvl2pPr>
            <a:lvl3pPr indent="-781050" lvl="2" marL="13716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3pPr>
            <a:lvl4pPr indent="-717550" lvl="3" marL="1828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–"/>
              <a:defRPr sz="7700"/>
            </a:lvl4pPr>
            <a:lvl5pPr indent="-717550" lvl="4" marL="22860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»"/>
              <a:defRPr sz="7700"/>
            </a:lvl5pPr>
            <a:lvl6pPr indent="-717550" lvl="5" marL="27432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6pPr>
            <a:lvl7pPr indent="-717550" lvl="6" marL="32004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7pPr>
            <a:lvl8pPr indent="-717550" lvl="7" marL="3657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8pPr>
            <a:lvl9pPr indent="-717550" lvl="8" marL="4114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9pPr>
          </a:lstStyle>
          <a:p/>
        </p:txBody>
      </p:sp>
      <p:sp>
        <p:nvSpPr>
          <p:cNvPr id="29" name="Google Shape;29;p6"/>
          <p:cNvSpPr txBox="1"/>
          <p:nvPr>
            <p:ph idx="3" type="body"/>
          </p:nvPr>
        </p:nvSpPr>
        <p:spPr>
          <a:xfrm>
            <a:off x="22296123" y="7368543"/>
            <a:ext cx="19400520" cy="3070858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rmAutofit/>
          </a:bodyPr>
          <a:lstStyle>
            <a:lvl1pPr indent="-228600" lvl="0" marL="4572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None/>
              <a:defRPr b="1" sz="11500"/>
            </a:lvl1pPr>
            <a:lvl2pPr indent="-228600" lvl="1" marL="9144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None/>
              <a:defRPr b="1" sz="9700"/>
            </a:lvl2pPr>
            <a:lvl3pPr indent="-228600" lvl="2" marL="13716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None/>
              <a:defRPr b="1" sz="8700"/>
            </a:lvl3pPr>
            <a:lvl4pPr indent="-228600" lvl="3" marL="1828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4pPr>
            <a:lvl5pPr indent="-228600" lvl="4" marL="22860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5pPr>
            <a:lvl6pPr indent="-228600" lvl="5" marL="27432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6pPr>
            <a:lvl7pPr indent="-228600" lvl="6" marL="32004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7pPr>
            <a:lvl8pPr indent="-228600" lvl="7" marL="3657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8pPr>
            <a:lvl9pPr indent="-228600" lvl="8" marL="4114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9pPr>
          </a:lstStyle>
          <a:p/>
        </p:txBody>
      </p:sp>
      <p:sp>
        <p:nvSpPr>
          <p:cNvPr id="30" name="Google Shape;30;p6"/>
          <p:cNvSpPr txBox="1"/>
          <p:nvPr>
            <p:ph idx="4" type="body"/>
          </p:nvPr>
        </p:nvSpPr>
        <p:spPr>
          <a:xfrm>
            <a:off x="22296123" y="10439401"/>
            <a:ext cx="19400520" cy="1896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958850" lvl="0" marL="4572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•"/>
              <a:defRPr sz="11500"/>
            </a:lvl1pPr>
            <a:lvl2pPr indent="-844550" lvl="1" marL="9144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–"/>
              <a:defRPr sz="9700"/>
            </a:lvl2pPr>
            <a:lvl3pPr indent="-781050" lvl="2" marL="13716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3pPr>
            <a:lvl4pPr indent="-717550" lvl="3" marL="1828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–"/>
              <a:defRPr sz="7700"/>
            </a:lvl4pPr>
            <a:lvl5pPr indent="-717550" lvl="4" marL="22860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»"/>
              <a:defRPr sz="7700"/>
            </a:lvl5pPr>
            <a:lvl6pPr indent="-717550" lvl="5" marL="27432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6pPr>
            <a:lvl7pPr indent="-717550" lvl="6" marL="32004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7pPr>
            <a:lvl8pPr indent="-717550" lvl="7" marL="3657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8pPr>
            <a:lvl9pPr indent="-717550" lvl="8" marL="4114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2194563" y="1310640"/>
            <a:ext cx="14439903" cy="557784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None/>
              <a:defRPr b="1" sz="9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17160240" y="1310644"/>
            <a:ext cx="24536400" cy="2809494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1206500" lvl="0" marL="457200" algn="l">
              <a:spcBef>
                <a:spcPts val="3080"/>
              </a:spcBef>
              <a:spcAft>
                <a:spcPts val="0"/>
              </a:spcAft>
              <a:buClr>
                <a:schemeClr val="dk1"/>
              </a:buClr>
              <a:buSzPts val="15400"/>
              <a:buChar char="•"/>
              <a:defRPr sz="15400"/>
            </a:lvl1pPr>
            <a:lvl2pPr indent="-1079500" lvl="1" marL="914400" algn="l"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Char char="–"/>
              <a:defRPr sz="13400"/>
            </a:lvl2pPr>
            <a:lvl3pPr indent="-958850" lvl="2" marL="13716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•"/>
              <a:defRPr sz="11500"/>
            </a:lvl3pPr>
            <a:lvl4pPr indent="-844550" lvl="3" marL="18288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–"/>
              <a:defRPr sz="9700"/>
            </a:lvl4pPr>
            <a:lvl5pPr indent="-844550" lvl="4" marL="22860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»"/>
              <a:defRPr sz="9700"/>
            </a:lvl5pPr>
            <a:lvl6pPr indent="-844550" lvl="5" marL="27432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6pPr>
            <a:lvl7pPr indent="-844550" lvl="6" marL="32004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7pPr>
            <a:lvl8pPr indent="-844550" lvl="7" marL="36576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8pPr>
            <a:lvl9pPr indent="-844550" lvl="8" marL="41148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9pPr>
          </a:lstStyle>
          <a:p/>
        </p:txBody>
      </p:sp>
      <p:sp>
        <p:nvSpPr>
          <p:cNvPr id="37" name="Google Shape;37;p9"/>
          <p:cNvSpPr txBox="1"/>
          <p:nvPr>
            <p:ph idx="2" type="body"/>
          </p:nvPr>
        </p:nvSpPr>
        <p:spPr>
          <a:xfrm>
            <a:off x="2194563" y="6888484"/>
            <a:ext cx="14439903" cy="2251710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228600" lvl="0" marL="457200" algn="l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 sz="6700"/>
            </a:lvl1pPr>
            <a:lvl2pPr indent="-228600" lvl="1" marL="91440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2pPr>
            <a:lvl3pPr indent="-228600" lvl="2" marL="137160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indent="-228600" lvl="3" marL="18288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indent="-228600" lvl="4" marL="22860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indent="-228600" lvl="5" marL="2743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indent="-228600" lvl="6" marL="32004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indent="-228600" lvl="7" marL="3657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indent="-228600" lvl="8" marL="41148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8602983" y="23042881"/>
            <a:ext cx="26334720" cy="2720342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None/>
              <a:defRPr b="1" sz="9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/>
          <p:nvPr>
            <p:ph idx="2" type="pic"/>
          </p:nvPr>
        </p:nvSpPr>
        <p:spPr>
          <a:xfrm>
            <a:off x="8602983" y="4288280"/>
            <a:ext cx="26334720" cy="1795549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8602983" y="25763223"/>
            <a:ext cx="26334720" cy="3863338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228600" lvl="0" marL="457200" algn="l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 sz="6700"/>
            </a:lvl1pPr>
            <a:lvl2pPr indent="-228600" lvl="1" marL="91440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2pPr>
            <a:lvl3pPr indent="-228600" lvl="2" marL="137160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indent="-228600" lvl="3" marL="18288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indent="-228600" lvl="4" marL="22860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indent="-228600" lvl="5" marL="2743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indent="-228600" lvl="6" marL="32004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indent="-228600" lvl="7" marL="3657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indent="-228600" lvl="8" marL="41148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00"/>
              <a:buFont typeface="Arial"/>
              <a:buNone/>
              <a:defRPr b="1" i="0" sz="2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2194560" y="8785861"/>
            <a:ext cx="39502080" cy="2172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1079500" lvl="0" marL="457200" marR="0" rtl="0" algn="l"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958850" lvl="1" marL="914400" marR="0" rtl="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Char char="–"/>
              <a:defRPr b="0" i="0" sz="1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44550" lvl="2" marL="1371600" marR="0" rtl="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b="0" i="0" sz="9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781050" lvl="3" marL="1828800" marR="0" rtl="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Font typeface="Arial"/>
              <a:buChar char="–"/>
              <a:defRPr b="0" i="0" sz="8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781050" lvl="4" marL="2286000" marR="0" rtl="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Font typeface="Arial"/>
              <a:buChar char="»"/>
              <a:defRPr b="0" i="0" sz="8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44550" lvl="5" marL="2743200" marR="0" rtl="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b="0" i="0" sz="9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44550" lvl="6" marL="3200400" marR="0" rtl="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b="0" i="0" sz="9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44550" lvl="7" marL="3657600" marR="0" rtl="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b="0" i="0" sz="9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44550" lvl="8" marL="4114800" marR="0" rtl="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b="0" i="0" sz="9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hyperlink" Target="https://archive.ics.uci.edu/ml/datasets/kdd+cup+1999+data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hyperlink" Target="https://www.kaggle.com/datasets/hassan06/nslkdd/da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1382225" y="5384675"/>
            <a:ext cx="14593500" cy="3758700"/>
          </a:xfrm>
          <a:prstGeom prst="roundRect">
            <a:avLst>
              <a:gd fmla="val 782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00" lIns="457200" spcFirstLastPara="1" rIns="457200" wrap="square" tIns="4572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Designing and developing a machine learning-based Network Intrusion Detection System capable of:</a:t>
            </a:r>
            <a:endParaRPr sz="3600"/>
          </a:p>
          <a:p>
            <a:pPr indent="0" lvl="0" marL="127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600"/>
              <a:t>●</a:t>
            </a:r>
            <a:r>
              <a:rPr b="1" lang="en-US" sz="3600"/>
              <a:t>Classifying 20+ distinct network anomalies</a:t>
            </a:r>
            <a:r>
              <a:rPr lang="en-US" sz="3600"/>
              <a:t> in real-world traffic</a:t>
            </a:r>
            <a:endParaRPr sz="3600"/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●Effectively handling </a:t>
            </a:r>
            <a:r>
              <a:rPr b="1" lang="en-US" sz="3600"/>
              <a:t>highly imbalanced datasets</a:t>
            </a:r>
            <a:endParaRPr b="1" sz="3600"/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●Capturing the </a:t>
            </a:r>
            <a:r>
              <a:rPr b="1" lang="en-US" sz="3600"/>
              <a:t>sequential patterns</a:t>
            </a:r>
            <a:r>
              <a:rPr lang="en-US" sz="3600"/>
              <a:t> inherent in network traffic</a:t>
            </a:r>
            <a:endParaRPr sz="3600"/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48" name="Google Shape;48;p11"/>
          <p:cNvSpPr/>
          <p:nvPr/>
        </p:nvSpPr>
        <p:spPr>
          <a:xfrm>
            <a:off x="16417575" y="5384675"/>
            <a:ext cx="11855400" cy="7225200"/>
          </a:xfrm>
          <a:prstGeom prst="roundRect">
            <a:avLst>
              <a:gd fmla="val 782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00" lIns="457200" spcFirstLastPara="1" rIns="457200" wrap="square" tIns="457200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3600"/>
              <a:buChar char="●"/>
            </a:pPr>
            <a:r>
              <a:rPr b="1" lang="en-US" sz="3600"/>
              <a:t>Split:</a:t>
            </a:r>
            <a:r>
              <a:rPr lang="en-US" sz="3600"/>
              <a:t> 90/10 train/val · KDDTest+ as held-out test · SMOTE on train only (no leakage)</a:t>
            </a:r>
            <a:endParaRPr sz="3600"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b="1" lang="en-US" sz="3600"/>
              <a:t>No Accuracy:</a:t>
            </a:r>
            <a:r>
              <a:rPr lang="en-US" sz="3600"/>
              <a:t> 13,469 normal vs. 1 spy sample — majority-class bias makes it meaningless</a:t>
            </a:r>
            <a:endParaRPr sz="3600"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b="1" lang="en-US" sz="3600"/>
              <a:t>Macro F1 (Primary):</a:t>
            </a:r>
            <a:r>
              <a:rPr lang="en-US" sz="3600"/>
              <a:t> Equal weight across all 23 classes — penalises ignoring rare attacks</a:t>
            </a:r>
            <a:endParaRPr sz="3600"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b="1" lang="en-US" sz="3600"/>
              <a:t>Weighted F1 (Secondary):</a:t>
            </a:r>
            <a:r>
              <a:rPr lang="en-US" sz="3600"/>
              <a:t> Context only — dominated by </a:t>
            </a:r>
            <a:r>
              <a:rPr lang="en-US" sz="3600">
                <a:solidFill>
                  <a:srgbClr val="188038"/>
                </a:solidFill>
              </a:rPr>
              <a:t>normal</a:t>
            </a:r>
            <a:r>
              <a:rPr lang="en-US" sz="3600"/>
              <a:t>, masks minority failure</a:t>
            </a:r>
            <a:endParaRPr sz="3600"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b="1" lang="en-US" sz="3600"/>
              <a:t>Per-Class:</a:t>
            </a:r>
            <a:r>
              <a:rPr lang="en-US" sz="3600"/>
              <a:t> Precision → minimise false alarms · Recall → catch rare stealthy attacks</a:t>
            </a:r>
            <a:endParaRPr sz="3600"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b="1" lang="en-US" sz="3600"/>
              <a:t>Visuals:</a:t>
            </a:r>
            <a:r>
              <a:rPr lang="en-US" sz="3600"/>
              <a:t> Confusion matrices (row-normalised) · Loss curves · 3-model comparison chart</a:t>
            </a:r>
            <a:endParaRPr b="1" sz="3600"/>
          </a:p>
        </p:txBody>
      </p:sp>
      <p:sp>
        <p:nvSpPr>
          <p:cNvPr id="49" name="Google Shape;49;p11"/>
          <p:cNvSpPr txBox="1"/>
          <p:nvPr/>
        </p:nvSpPr>
        <p:spPr>
          <a:xfrm>
            <a:off x="6760100" y="2635677"/>
            <a:ext cx="347301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 fontScale="85000"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0400">
                <a:solidFill>
                  <a:schemeClr val="dk1"/>
                </a:solidFill>
              </a:rPr>
              <a:t>Deep Learing based Multi-class Network Intrusion Detection</a:t>
            </a:r>
            <a:endParaRPr sz="10400"/>
          </a:p>
        </p:txBody>
      </p:sp>
      <p:sp>
        <p:nvSpPr>
          <p:cNvPr id="50" name="Google Shape;50;p11"/>
          <p:cNvSpPr txBox="1"/>
          <p:nvPr/>
        </p:nvSpPr>
        <p:spPr>
          <a:xfrm>
            <a:off x="18282213" y="4028272"/>
            <a:ext cx="225093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Asavari Hangal, Nidhi Grover, Arnav Yennam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51" name="Google Shape;51;p11"/>
          <p:cNvPicPr preferRelativeResize="0"/>
          <p:nvPr/>
        </p:nvPicPr>
        <p:blipFill rotWithShape="1">
          <a:blip r:embed="rId3">
            <a:alphaModFix/>
          </a:blip>
          <a:srcRect b="0" l="0" r="63636" t="0"/>
          <a:stretch/>
        </p:blipFill>
        <p:spPr>
          <a:xfrm>
            <a:off x="1371600" y="914654"/>
            <a:ext cx="5388495" cy="311362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1"/>
          <p:cNvSpPr txBox="1"/>
          <p:nvPr/>
        </p:nvSpPr>
        <p:spPr>
          <a:xfrm>
            <a:off x="6760095" y="1434926"/>
            <a:ext cx="10528844" cy="10156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AI Student Symposium 2026</a:t>
            </a:r>
            <a:endParaRPr/>
          </a:p>
        </p:txBody>
      </p:sp>
      <p:sp>
        <p:nvSpPr>
          <p:cNvPr id="53" name="Google Shape;53;p11"/>
          <p:cNvSpPr txBox="1"/>
          <p:nvPr/>
        </p:nvSpPr>
        <p:spPr>
          <a:xfrm>
            <a:off x="36223388" y="1540226"/>
            <a:ext cx="5266800" cy="101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</a:rPr>
              <a:t>NNDL - 20</a:t>
            </a:r>
            <a:endParaRPr/>
          </a:p>
        </p:txBody>
      </p:sp>
      <p:sp>
        <p:nvSpPr>
          <p:cNvPr id="54" name="Google Shape;54;p11"/>
          <p:cNvSpPr txBox="1"/>
          <p:nvPr/>
        </p:nvSpPr>
        <p:spPr>
          <a:xfrm>
            <a:off x="16417573" y="4163451"/>
            <a:ext cx="10186500" cy="101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Evaluation Plan and Results</a:t>
            </a:r>
            <a:endParaRPr/>
          </a:p>
        </p:txBody>
      </p:sp>
      <p:sp>
        <p:nvSpPr>
          <p:cNvPr id="55" name="Google Shape;55;p11"/>
          <p:cNvSpPr txBox="1"/>
          <p:nvPr/>
        </p:nvSpPr>
        <p:spPr>
          <a:xfrm>
            <a:off x="16665350" y="28474470"/>
            <a:ext cx="6285000" cy="101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References</a:t>
            </a:r>
            <a:endParaRPr/>
          </a:p>
        </p:txBody>
      </p:sp>
      <p:sp>
        <p:nvSpPr>
          <p:cNvPr id="56" name="Google Shape;56;p11"/>
          <p:cNvSpPr txBox="1"/>
          <p:nvPr/>
        </p:nvSpPr>
        <p:spPr>
          <a:xfrm>
            <a:off x="1371596" y="4198578"/>
            <a:ext cx="7614000" cy="101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</p:txBody>
      </p:sp>
      <p:sp>
        <p:nvSpPr>
          <p:cNvPr id="57" name="Google Shape;57;p11"/>
          <p:cNvSpPr txBox="1"/>
          <p:nvPr/>
        </p:nvSpPr>
        <p:spPr>
          <a:xfrm>
            <a:off x="1481494" y="9227941"/>
            <a:ext cx="3145800" cy="101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58" name="Google Shape;58;p11"/>
          <p:cNvSpPr txBox="1"/>
          <p:nvPr/>
        </p:nvSpPr>
        <p:spPr>
          <a:xfrm>
            <a:off x="1481500" y="16083900"/>
            <a:ext cx="14593500" cy="101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Approach and Netwo</a:t>
            </a:r>
            <a:r>
              <a:rPr lang="en-US" sz="6000">
                <a:solidFill>
                  <a:schemeClr val="dk1"/>
                </a:solidFill>
              </a:rPr>
              <a:t>rk Architecture</a:t>
            </a:r>
            <a:endParaRPr/>
          </a:p>
        </p:txBody>
      </p:sp>
      <p:sp>
        <p:nvSpPr>
          <p:cNvPr id="59" name="Google Shape;59;p11"/>
          <p:cNvSpPr txBox="1"/>
          <p:nvPr/>
        </p:nvSpPr>
        <p:spPr>
          <a:xfrm>
            <a:off x="24450225" y="1540234"/>
            <a:ext cx="10554300" cy="101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</a:rPr>
              <a:t>CSC 491/ CSC 525/ ECE 525</a:t>
            </a:r>
            <a:endParaRPr sz="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1"/>
          <p:cNvSpPr/>
          <p:nvPr/>
        </p:nvSpPr>
        <p:spPr>
          <a:xfrm>
            <a:off x="1481500" y="10469525"/>
            <a:ext cx="14593500" cy="5388600"/>
          </a:xfrm>
          <a:prstGeom prst="roundRect">
            <a:avLst>
              <a:gd fmla="val 782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00" lIns="457200" spcFirstLastPara="1" rIns="457200" wrap="square" tIns="4572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Dataset Used</a:t>
            </a:r>
            <a:endParaRPr b="1" sz="3600"/>
          </a:p>
          <a:p>
            <a:pPr indent="0" lvl="0" marL="127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600"/>
              <a:t>●  NSL-KDD dataset from Kaggle, benchmark for network intrusion detection research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Input Features</a:t>
            </a:r>
            <a:endParaRPr b="1" sz="3600"/>
          </a:p>
          <a:p>
            <a:pPr indent="0" lvl="0" marL="127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600"/>
              <a:t>●  41 tabular features per connection</a:t>
            </a:r>
            <a:endParaRPr sz="3600"/>
          </a:p>
          <a:p>
            <a:pPr indent="-4572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Connection details (e.g., source/destination IP, port)</a:t>
            </a:r>
            <a:endParaRPr sz="3600"/>
          </a:p>
          <a:p>
            <a:pPr indent="-457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Payload content attributes</a:t>
            </a:r>
            <a:endParaRPr sz="3600"/>
          </a:p>
          <a:p>
            <a:pPr indent="-457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Temporal traffic patterns</a:t>
            </a:r>
            <a:endParaRPr sz="3600"/>
          </a:p>
        </p:txBody>
      </p:sp>
      <p:pic>
        <p:nvPicPr>
          <p:cNvPr id="61" name="Google Shape;6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69050" y="5113025"/>
            <a:ext cx="13390151" cy="774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1" title="all_loss_curves.png"/>
          <p:cNvPicPr preferRelativeResize="0"/>
          <p:nvPr/>
        </p:nvPicPr>
        <p:blipFill rotWithShape="1">
          <a:blip r:embed="rId5">
            <a:alphaModFix/>
          </a:blip>
          <a:srcRect b="7287" l="0" r="0" t="7279"/>
          <a:stretch/>
        </p:blipFill>
        <p:spPr>
          <a:xfrm>
            <a:off x="16417575" y="12882788"/>
            <a:ext cx="25728676" cy="665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1" title="architecture_comparison.png"/>
          <p:cNvPicPr preferRelativeResize="0"/>
          <p:nvPr/>
        </p:nvPicPr>
        <p:blipFill rotWithShape="1">
          <a:blip r:embed="rId6">
            <a:alphaModFix/>
          </a:blip>
          <a:srcRect b="0" l="-1599" r="-1589" t="0"/>
          <a:stretch/>
        </p:blipFill>
        <p:spPr>
          <a:xfrm>
            <a:off x="16665350" y="19675925"/>
            <a:ext cx="26124050" cy="825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81500" y="23306350"/>
            <a:ext cx="14494224" cy="87884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1"/>
          <p:cNvSpPr/>
          <p:nvPr/>
        </p:nvSpPr>
        <p:spPr>
          <a:xfrm>
            <a:off x="1431875" y="17325475"/>
            <a:ext cx="14593500" cy="5388600"/>
          </a:xfrm>
          <a:prstGeom prst="roundRect">
            <a:avLst>
              <a:gd fmla="val 782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457200" spcFirstLastPara="1" rIns="457200" wrap="square" tIns="457200">
            <a:noAutofit/>
          </a:bodyPr>
          <a:lstStyle/>
          <a:p>
            <a:pPr indent="-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4 models with shared CNN → LSTM → FC layer backbone (Chosen based on baseline evaluations over LR and RF).</a:t>
            </a:r>
            <a:endParaRPr sz="3600"/>
          </a:p>
          <a:p>
            <a:pPr indent="-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CNN for local feature extraction, LSTM for capturing sequential dependencies and FC layer to map to 23 attack classes.</a:t>
            </a:r>
            <a:endParaRPr sz="3600"/>
          </a:p>
          <a:p>
            <a:pPr indent="-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Each iteration introduced specific changes from the C-LSTM baseline. Starting from bidirectionality and mean pooling to self attention and finally focal loss to target class imbalance better.</a:t>
            </a:r>
            <a:endParaRPr b="1" sz="3600"/>
          </a:p>
        </p:txBody>
      </p:sp>
      <p:sp>
        <p:nvSpPr>
          <p:cNvPr id="66" name="Google Shape;66;p11"/>
          <p:cNvSpPr/>
          <p:nvPr/>
        </p:nvSpPr>
        <p:spPr>
          <a:xfrm>
            <a:off x="16796475" y="29560950"/>
            <a:ext cx="25480800" cy="2533800"/>
          </a:xfrm>
          <a:prstGeom prst="roundRect">
            <a:avLst>
              <a:gd fmla="val 782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457200" spcFirstLastPara="1" rIns="457200" wrap="square" tIns="457200">
            <a:no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[1] Kaggle NSL-KDD dataset for Network Security, Information Security and Cyber Security </a:t>
            </a:r>
            <a:r>
              <a:rPr lang="en-US" sz="3000">
                <a:uFill>
                  <a:noFill/>
                </a:uFill>
                <a:hlinkClick r:id="rId8"/>
              </a:rPr>
              <a:t>https://www.kaggle.com/datasets/hassan06/nslkdd/data</a:t>
            </a:r>
            <a:endParaRPr sz="3000"/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[2] KDD Cup 1999 Dataset, </a:t>
            </a:r>
            <a:r>
              <a:rPr lang="en-US" sz="3000">
                <a:uFill>
                  <a:noFill/>
                </a:uFill>
                <a:hlinkClick r:id="rId9"/>
              </a:rPr>
              <a:t>https://archive.ics.uci.edu/ml/datasets/kdd+cup+1999+data</a:t>
            </a:r>
            <a:endParaRPr sz="3000"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CState-Presentation-36x48">
  <a:themeElements>
    <a:clrScheme name="NC State Colors">
      <a:dk1>
        <a:srgbClr val="1A1718"/>
      </a:dk1>
      <a:lt1>
        <a:srgbClr val="FFFFFF"/>
      </a:lt1>
      <a:dk2>
        <a:srgbClr val="313133"/>
      </a:dk2>
      <a:lt2>
        <a:srgbClr val="DFE0E1"/>
      </a:lt2>
      <a:accent1>
        <a:srgbClr val="D7002A"/>
      </a:accent1>
      <a:accent2>
        <a:srgbClr val="175AA3"/>
      </a:accent2>
      <a:accent3>
        <a:srgbClr val="ACB519"/>
      </a:accent3>
      <a:accent4>
        <a:srgbClr val="B4001C"/>
      </a:accent4>
      <a:accent5>
        <a:srgbClr val="FFE04C"/>
      </a:accent5>
      <a:accent6>
        <a:srgbClr val="E0703C"/>
      </a:accent6>
      <a:hlink>
        <a:srgbClr val="4299B7"/>
      </a:hlink>
      <a:folHlink>
        <a:srgbClr val="175AA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
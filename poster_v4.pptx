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6"/>
  </p:notesMasterIdLst>
  <p:sldIdLst>
    <p:sldId id="256" r:id="rId5"/>
  </p:sldIdLst>
  <p:sldSz cx="43891200" cy="32918400"/>
  <p:notesSz cx="9144000" cy="6858000"/>
  <p:defaultTextStyle>
    <a:defPPr>
      <a:defRPr lang="en-US"/>
    </a:defPPr>
    <a:lvl1pPr marL="0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74"/>
  </p:normalViewPr>
  <p:slideViewPr>
    <p:cSldViewPr snapToGrid="0" snapToObjects="1">
      <p:cViewPr>
        <p:scale>
          <a:sx n="50" d="100"/>
          <a:sy n="50" d="100"/>
        </p:scale>
        <p:origin x="36" y="-2394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7263C8-1F4A-D143-B9CC-F49476357AC0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B56C-B07E-3E41-B87D-461E056AF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2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6115" algn="l" defTabSz="2194514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31B56C-B07E-3E41-B87D-461E056AF0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37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10226042"/>
            <a:ext cx="37307520" cy="70561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680" y="18653760"/>
            <a:ext cx="30723840" cy="8412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945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890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583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7780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1" y="21153122"/>
            <a:ext cx="37307520" cy="6537960"/>
          </a:xfrm>
        </p:spPr>
        <p:txBody>
          <a:bodyPr anchor="t"/>
          <a:lstStyle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1" y="13952226"/>
            <a:ext cx="37307520" cy="7200898"/>
          </a:xfrm>
        </p:spPr>
        <p:txBody>
          <a:bodyPr anchor="b"/>
          <a:lstStyle>
            <a:lvl1pPr marL="0" indent="0">
              <a:buNone/>
              <a:defRPr sz="9700">
                <a:solidFill>
                  <a:schemeClr val="tx1">
                    <a:tint val="75000"/>
                  </a:schemeClr>
                </a:solidFill>
              </a:defRPr>
            </a:lvl1pPr>
            <a:lvl2pPr marL="219451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2pPr>
            <a:lvl3pPr marL="4389028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54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05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11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45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1360" y="7680964"/>
            <a:ext cx="19385280" cy="21724622"/>
          </a:xfrm>
        </p:spPr>
        <p:txBody>
          <a:bodyPr/>
          <a:lstStyle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2" y="7368543"/>
            <a:ext cx="19392903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4562" y="10439401"/>
            <a:ext cx="19392903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123" y="7368543"/>
            <a:ext cx="19400520" cy="3070858"/>
          </a:xfrm>
        </p:spPr>
        <p:txBody>
          <a:bodyPr anchor="b"/>
          <a:lstStyle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5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123" y="10439401"/>
            <a:ext cx="19400520" cy="18966182"/>
          </a:xfrm>
        </p:spPr>
        <p:txBody>
          <a:bodyPr/>
          <a:lstStyle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3" y="1310640"/>
            <a:ext cx="14439903" cy="5577840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240" y="1310644"/>
            <a:ext cx="24536400" cy="28094942"/>
          </a:xfrm>
        </p:spPr>
        <p:txBody>
          <a:bodyPr/>
          <a:lstStyle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700"/>
            </a:lvl4pPr>
            <a:lvl5pPr>
              <a:defRPr sz="9700"/>
            </a:lvl5pPr>
            <a:lvl6pPr>
              <a:defRPr sz="9700"/>
            </a:lvl6pPr>
            <a:lvl7pPr>
              <a:defRPr sz="9700"/>
            </a:lvl7pPr>
            <a:lvl8pPr>
              <a:defRPr sz="9700"/>
            </a:lvl8pPr>
            <a:lvl9pPr>
              <a:defRPr sz="9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4563" y="6888484"/>
            <a:ext cx="14439903" cy="22517102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983" y="23042881"/>
            <a:ext cx="26334720" cy="2720342"/>
          </a:xfrm>
        </p:spPr>
        <p:txBody>
          <a:bodyPr anchor="b"/>
          <a:lstStyle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983" y="4288280"/>
            <a:ext cx="26334720" cy="17955490"/>
          </a:xfrm>
        </p:spPr>
        <p:txBody>
          <a:bodyPr/>
          <a:lstStyle>
            <a:lvl1pPr marL="0" indent="0">
              <a:buNone/>
              <a:defRPr sz="15400"/>
            </a:lvl1pPr>
            <a:lvl2pPr marL="2194514" indent="0">
              <a:buNone/>
              <a:defRPr sz="13400"/>
            </a:lvl2pPr>
            <a:lvl3pPr marL="4389028" indent="0">
              <a:buNone/>
              <a:defRPr sz="11500"/>
            </a:lvl3pPr>
            <a:lvl4pPr marL="6583543" indent="0">
              <a:buNone/>
              <a:defRPr sz="9700"/>
            </a:lvl4pPr>
            <a:lvl5pPr marL="8778057" indent="0">
              <a:buNone/>
              <a:defRPr sz="9700"/>
            </a:lvl5pPr>
            <a:lvl6pPr marL="10972571" indent="0">
              <a:buNone/>
              <a:defRPr sz="9700"/>
            </a:lvl6pPr>
            <a:lvl7pPr marL="13167085" indent="0">
              <a:buNone/>
              <a:defRPr sz="9700"/>
            </a:lvl7pPr>
            <a:lvl8pPr marL="15361599" indent="0">
              <a:buNone/>
              <a:defRPr sz="9700"/>
            </a:lvl8pPr>
            <a:lvl9pPr marL="17556115" indent="0">
              <a:buNone/>
              <a:defRPr sz="97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983" y="25763223"/>
            <a:ext cx="26334720" cy="3863338"/>
          </a:xfrm>
        </p:spPr>
        <p:txBody>
          <a:bodyPr/>
          <a:lstStyle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5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</p:sldLayoutIdLst>
  <p:txStyles>
    <p:titleStyle>
      <a:lvl1pPr algn="ctr" defTabSz="2194514" rtl="0" eaLnBrk="1" latinLnBrk="0" hangingPunct="1">
        <a:spcBef>
          <a:spcPct val="0"/>
        </a:spcBef>
        <a:buNone/>
        <a:defRPr sz="211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45886" indent="-1645886" algn="l" defTabSz="2194514" rtl="0" eaLnBrk="1" latinLnBrk="0" hangingPunct="1">
        <a:spcBef>
          <a:spcPct val="20000"/>
        </a:spcBef>
        <a:buFont typeface="Arial"/>
        <a:buChar char="•"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2194514" rtl="0" eaLnBrk="1" latinLnBrk="0" hangingPunct="1">
        <a:spcBef>
          <a:spcPct val="20000"/>
        </a:spcBef>
        <a:buFont typeface="Arial"/>
        <a:buChar char="–"/>
        <a:defRPr sz="1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2194514" rtl="0" eaLnBrk="1" latinLnBrk="0" hangingPunct="1">
        <a:spcBef>
          <a:spcPct val="20000"/>
        </a:spcBef>
        <a:buFont typeface="Arial"/>
        <a:buChar char="–"/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2194514" rtl="0" eaLnBrk="1" latinLnBrk="0" hangingPunct="1">
        <a:spcBef>
          <a:spcPct val="20000"/>
        </a:spcBef>
        <a:buFont typeface="Arial"/>
        <a:buChar char="»"/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8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2" indent="-1097257" algn="l" defTabSz="2194514" rtl="0" eaLnBrk="1" latinLnBrk="0" hangingPunct="1">
        <a:spcBef>
          <a:spcPct val="20000"/>
        </a:spcBef>
        <a:buFont typeface="Arial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5" algn="l" defTabSz="2194514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7095744" y="2301985"/>
            <a:ext cx="34730248" cy="2382678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 fontScale="85000" lnSpcReduction="10000"/>
          </a:bodyPr>
          <a:lstStyle>
            <a:lvl1pPr algn="ctr" defTabSz="2194514" rtl="0" eaLnBrk="1" latinLnBrk="0" hangingPunct="1">
              <a:spcBef>
                <a:spcPct val="0"/>
              </a:spcBef>
              <a:buNone/>
              <a:defRPr sz="211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0400" dirty="0"/>
              <a:t>Cost-Aware Customer Churn Prediction for Telecom Industry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20432268" y="4099648"/>
            <a:ext cx="22087332" cy="1223710"/>
          </a:xfrm>
          <a:prstGeom prst="rect">
            <a:avLst/>
          </a:prstGeom>
        </p:spPr>
        <p:txBody>
          <a:bodyPr vert="horz" lIns="438903" tIns="219451" rIns="438903" bIns="219451" rtlCol="0">
            <a:noAutofit/>
          </a:bodyPr>
          <a:lstStyle>
            <a:lvl1pPr marL="0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3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94514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1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89028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583543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778057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8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972571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16708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361599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556115" indent="0" algn="ctr" defTabSz="2194514" rtl="0" eaLnBrk="1" latinLnBrk="0" hangingPunct="1">
              <a:spcBef>
                <a:spcPct val="20000"/>
              </a:spcBef>
              <a:buFont typeface="Arial"/>
              <a:buNone/>
              <a:defRPr sz="9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Sree Vathsa Kashyap Mydugolam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smydugo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  |   Srinidhi Shivashankar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sshivas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  |   Deekshith Anantha (</a:t>
            </a:r>
            <a:r>
              <a:rPr kumimoji="0" lang="en-IN" sz="2800" b="1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dananth</a:t>
            </a: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ctr" defTabSz="21945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800" b="1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Department of Electrical and Computer Engineering, NC State University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r="63636"/>
          <a:stretch/>
        </p:blipFill>
        <p:spPr>
          <a:xfrm>
            <a:off x="1371600" y="914654"/>
            <a:ext cx="5388495" cy="31136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7F0882-0239-10EF-F7CC-910E7D19F188}"/>
              </a:ext>
            </a:extLst>
          </p:cNvPr>
          <p:cNvSpPr txBox="1"/>
          <p:nvPr/>
        </p:nvSpPr>
        <p:spPr>
          <a:xfrm>
            <a:off x="6760095" y="1434926"/>
            <a:ext cx="10528844" cy="1015663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+mj-lt"/>
              </a:rPr>
              <a:t>AI Student Symposium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1F05A-7FF3-52BF-3AB8-B995310A4974}"/>
              </a:ext>
            </a:extLst>
          </p:cNvPr>
          <p:cNvSpPr txBox="1"/>
          <p:nvPr/>
        </p:nvSpPr>
        <p:spPr>
          <a:xfrm>
            <a:off x="36137088" y="1434926"/>
            <a:ext cx="5266944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Poster 60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F4D8AF-4EB9-BE9E-A276-0F846301C3A3}"/>
              </a:ext>
            </a:extLst>
          </p:cNvPr>
          <p:cNvSpPr txBox="1"/>
          <p:nvPr/>
        </p:nvSpPr>
        <p:spPr>
          <a:xfrm>
            <a:off x="24485600" y="1424309"/>
            <a:ext cx="10554208" cy="101566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Course ID : ECE525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303520"/>
            <a:ext cx="13868400" cy="10241280"/>
          </a:xfrm>
          <a:prstGeom prst="roundRect">
            <a:avLst/>
          </a:prstGeom>
          <a:solidFill>
            <a:srgbClr val="FB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5303520"/>
            <a:ext cx="13868400" cy="1005840"/>
          </a:xfrm>
          <a:prstGeom prst="roundRect">
            <a:avLst/>
          </a:prstGeom>
          <a:solidFill>
            <a:srgbClr val="E8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l"/>
            <a:r>
              <a:rPr sz="2400" b="1">
                <a:solidFill>
                  <a:srgbClr val="212529"/>
                </a:solidFill>
                <a:latin typeface="Calibri"/>
              </a:rPr>
              <a:t>A.  Motivation &amp;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492240"/>
            <a:ext cx="13136879" cy="237744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212529"/>
                </a:solidFill>
                <a:latin typeface="Calibri"/>
              </a:rPr>
              <a:t>Customer churn -- when a paying subscriber leaves a service -- is the most expensive problem in telecom.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212529"/>
                </a:solidFill>
                <a:latin typeface="Calibri"/>
              </a:rPr>
              <a:t>Acquiring a new customer costs 5x-7x more than retaining one, so identifying customers about to leave is directly tied to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8961120"/>
            <a:ext cx="13136879" cy="41148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/>
            <a:r>
              <a:rPr sz="2000" b="1" i="0">
                <a:solidFill>
                  <a:srgbClr val="8B1A1A"/>
                </a:solidFill>
                <a:latin typeface="Calibri"/>
              </a:rPr>
              <a:t>The challenge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9464040"/>
            <a:ext cx="365760" cy="36576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9418320"/>
            <a:ext cx="12633959" cy="86868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Imbalanced.  only 26% of customers churn; accuracy is misleading.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10332720"/>
            <a:ext cx="365760" cy="36576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10287000"/>
            <a:ext cx="12633959" cy="86868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Asymmetric cost.  missing a churner ($1,500 LTV) is ~30x worse than a false alarm ($50).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11201400"/>
            <a:ext cx="365760" cy="36576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11155680"/>
            <a:ext cx="12633959" cy="86868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12529"/>
                </a:solidFill>
                <a:latin typeface="Calibri"/>
              </a:rPr>
              <a:t>Threshold blindness.  default 0.5 cutoffs ignore both, so a 'good' model is a poor business tool.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12252959"/>
            <a:ext cx="13136879" cy="41148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/>
            <a:r>
              <a:rPr sz="2000" b="1" i="0">
                <a:solidFill>
                  <a:srgbClr val="8B1A1A"/>
                </a:solidFill>
                <a:latin typeface="Calibri"/>
              </a:rPr>
              <a:t>Our contribution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12755880"/>
            <a:ext cx="13136879" cy="164592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212529"/>
                </a:solidFill>
                <a:latin typeface="Calibri"/>
              </a:rPr>
              <a:t>Compare four churn classifiers -- Logistic Regression, custom MLP, CatBoost, XGBoost -- under a cost-aware evaluation that ties model probabilities to dollars.</a:t>
            </a:r>
          </a:p>
          <a:p>
            <a:pPr algn="l">
              <a:lnSpc>
                <a:spcPct val="105000"/>
              </a:lnSpc>
            </a:pPr>
            <a:r>
              <a:rPr sz="1800" b="0" i="1">
                <a:solidFill>
                  <a:srgbClr val="212529"/>
                </a:solidFill>
                <a:latin typeface="Calibri"/>
              </a:rPr>
              <a:t>We show that the right operating threshold matters more than the choice of architecture.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11399" y="5303520"/>
            <a:ext cx="13868400" cy="102412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5011399" y="5303520"/>
            <a:ext cx="13868400" cy="1005840"/>
          </a:xfrm>
          <a:prstGeom prst="roundRect">
            <a:avLst/>
          </a:prstGeom>
          <a:solidFill>
            <a:srgbClr val="A8C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l"/>
            <a:r>
              <a:rPr sz="2400" b="1">
                <a:solidFill>
                  <a:srgbClr val="212529"/>
                </a:solidFill>
                <a:latin typeface="Calibri"/>
              </a:rPr>
              <a:t>B.  Data &amp; EDA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77159" y="6492240"/>
            <a:ext cx="13136879" cy="128016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212529"/>
                </a:solidFill>
                <a:latin typeface="Calibri"/>
              </a:rPr>
              <a:t>IBM Telco Customer Churn (Kaggle)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212529"/>
                </a:solidFill>
                <a:latin typeface="Calibri"/>
              </a:rPr>
              <a:t>7,032 customers x 19 features after cleaning.</a:t>
            </a:r>
          </a:p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212529"/>
                </a:solidFill>
                <a:latin typeface="Calibri"/>
              </a:rPr>
              <a:t>Demographics, contract, services, charges. Target: Churn (Yes/No).</a:t>
            </a:r>
          </a:p>
        </p:txBody>
      </p:sp>
      <p:pic>
        <p:nvPicPr>
          <p:cNvPr id="27" name="Picture 26" descr="eda_01_class_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77159" y="7909560"/>
            <a:ext cx="7225284" cy="20116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2865181" y="7909560"/>
            <a:ext cx="5648858" cy="2011680"/>
          </a:xfrm>
          <a:prstGeom prst="rect">
            <a:avLst/>
          </a:prstGeom>
          <a:noFill/>
        </p:spPr>
        <p:txBody>
          <a:bodyPr wrap="square" lIns="50000" rIns="50000" tIns="40000" bIns="40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Class balance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5,163 stayed (73.4%)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1,869 churned (26.6%)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212529"/>
                </a:solidFill>
                <a:latin typeface="Calibri"/>
              </a:rPr>
              <a:t>Minority ratio 1 : 2.76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77159" y="10058400"/>
            <a:ext cx="13136879" cy="41148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/>
            <a:r>
              <a:rPr sz="1800" b="1" i="0">
                <a:solidFill>
                  <a:srgbClr val="8B1A1A"/>
                </a:solidFill>
                <a:latin typeface="Calibri"/>
              </a:rPr>
              <a:t>Top churn drivers</a:t>
            </a:r>
          </a:p>
        </p:txBody>
      </p:sp>
      <p:pic>
        <p:nvPicPr>
          <p:cNvPr id="30" name="Picture 29" descr="eda_02_churn_by_contra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77159" y="10561320"/>
            <a:ext cx="13136879" cy="30175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5377159" y="13716000"/>
            <a:ext cx="13136879" cy="128016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- Contract: month-to-month 43%  vs  two-year 3%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- Tenure: churners cluster in first 12 months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- Internet: fiber 42%  vs  DSL 19%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- Payment: electronic check 45%  vs  auto-pay &lt;20%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336999" y="5303520"/>
            <a:ext cx="13868400" cy="10241280"/>
          </a:xfrm>
          <a:prstGeom prst="roundRect">
            <a:avLst/>
          </a:prstGeom>
          <a:solidFill>
            <a:srgbClr val="D1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9336999" y="5303520"/>
            <a:ext cx="13868400" cy="1005840"/>
          </a:xfrm>
          <a:prstGeom prst="roundRect">
            <a:avLst/>
          </a:prstGeom>
          <a:solidFill>
            <a:srgbClr val="A3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l"/>
            <a:r>
              <a:rPr sz="2400" b="1">
                <a:solidFill>
                  <a:srgbClr val="212529"/>
                </a:solidFill>
                <a:latin typeface="Calibri"/>
              </a:rPr>
              <a:t>C.  Methodology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02759" y="6537960"/>
            <a:ext cx="13136879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12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/>
            <a:r>
              <a:rPr sz="1400" b="1">
                <a:solidFill>
                  <a:srgbClr val="212529"/>
                </a:solidFill>
                <a:latin typeface="Calibri"/>
              </a:rPr>
              <a:t>Raw CSV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36106607" y="7040880"/>
            <a:ext cx="329184" cy="164592"/>
          </a:xfrm>
          <a:prstGeom prst="downArrow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9702759" y="7223760"/>
            <a:ext cx="13136879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12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/>
            <a:r>
              <a:rPr sz="1400" b="1">
                <a:solidFill>
                  <a:srgbClr val="212529"/>
                </a:solidFill>
                <a:latin typeface="Calibri"/>
              </a:rPr>
              <a:t>Clean  (drop customerID, fix TotalCharges)</a:t>
            </a:r>
            <a:br/>
            <a:r>
              <a:rPr sz="1400" b="1">
                <a:solidFill>
                  <a:srgbClr val="212529"/>
                </a:solidFill>
                <a:latin typeface="Calibri"/>
              </a:rPr>
              <a:t>One-hot encode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36106607" y="7818120"/>
            <a:ext cx="329184" cy="164592"/>
          </a:xfrm>
          <a:prstGeom prst="downArrow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9702759" y="8001000"/>
            <a:ext cx="13136879" cy="59436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212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/>
            <a:r>
              <a:rPr sz="1400" b="1">
                <a:solidFill>
                  <a:srgbClr val="212529"/>
                </a:solidFill>
                <a:latin typeface="Calibri"/>
              </a:rPr>
              <a:t>Stratified split  70 / 15 / 15</a:t>
            </a:r>
            <a:br/>
            <a:r>
              <a:rPr sz="1400" b="1">
                <a:solidFill>
                  <a:srgbClr val="212529"/>
                </a:solidFill>
                <a:latin typeface="Calibri"/>
              </a:rPr>
              <a:t>Fit StandardScaler on TRAIN only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36106607" y="8595360"/>
            <a:ext cx="329184" cy="164592"/>
          </a:xfrm>
          <a:prstGeom prst="downArrow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9702759" y="8778240"/>
            <a:ext cx="3215639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12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Logistic</a:t>
            </a:r>
            <a:br/>
            <a:r>
              <a:rPr sz="1200" b="1">
                <a:solidFill>
                  <a:srgbClr val="212529"/>
                </a:solidFill>
                <a:latin typeface="Calibri"/>
              </a:rPr>
              <a:t>Reg.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009839" y="8778240"/>
            <a:ext cx="3215639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12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MLP</a:t>
            </a:r>
            <a:br/>
            <a:r>
              <a:rPr sz="1200" b="1">
                <a:solidFill>
                  <a:srgbClr val="212529"/>
                </a:solidFill>
                <a:latin typeface="Calibri"/>
              </a:rPr>
              <a:t>(custom NN)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316919" y="8778240"/>
            <a:ext cx="3215639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12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CatBoost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623999" y="8778240"/>
            <a:ext cx="3215639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12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/>
            <a:r>
              <a:rPr sz="1200" b="1">
                <a:solidFill>
                  <a:srgbClr val="212529"/>
                </a:solidFill>
                <a:latin typeface="Calibri"/>
              </a:rPr>
              <a:t>XGBoost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36106607" y="9372600"/>
            <a:ext cx="329184" cy="164592"/>
          </a:xfrm>
          <a:prstGeom prst="downArrow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9702759" y="9555480"/>
            <a:ext cx="13136879" cy="502920"/>
          </a:xfrm>
          <a:prstGeom prst="roundRect">
            <a:avLst/>
          </a:prstGeom>
          <a:solidFill>
            <a:srgbClr val="FFF3CD"/>
          </a:solidFill>
          <a:ln w="9525">
            <a:solidFill>
              <a:srgbClr val="212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/>
            <a:r>
              <a:rPr sz="1400" b="1">
                <a:solidFill>
                  <a:srgbClr val="212529"/>
                </a:solidFill>
                <a:latin typeface="Calibri"/>
              </a:rPr>
              <a:t>Tune threshold on VALIDATION  (max F1)</a:t>
            </a:r>
          </a:p>
        </p:txBody>
      </p:sp>
      <p:sp>
        <p:nvSpPr>
          <p:cNvPr id="46" name="Down Arrow 45"/>
          <p:cNvSpPr/>
          <p:nvPr/>
        </p:nvSpPr>
        <p:spPr>
          <a:xfrm>
            <a:off x="36106607" y="10058400"/>
            <a:ext cx="329184" cy="164592"/>
          </a:xfrm>
          <a:prstGeom prst="downArrow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9702759" y="10241280"/>
            <a:ext cx="13136879" cy="502920"/>
          </a:xfrm>
          <a:prstGeom prst="roundRect">
            <a:avLst/>
          </a:prstGeom>
          <a:solidFill>
            <a:srgbClr val="A3CCB8"/>
          </a:solidFill>
          <a:ln w="9525">
            <a:solidFill>
              <a:srgbClr val="2125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000" bIns="20000" lIns="60000" rIns="60000"/>
          <a:lstStyle/>
          <a:p>
            <a:pPr algn="ctr"/>
            <a:r>
              <a:rPr sz="1400" b="1">
                <a:solidFill>
                  <a:srgbClr val="212529"/>
                </a:solidFill>
                <a:latin typeface="Calibri"/>
              </a:rPr>
              <a:t>Report TEST metrics + cost-aware $ analysis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702759" y="10972800"/>
            <a:ext cx="13136879" cy="91440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/>
            <a:r>
              <a:rPr sz="1800" b="1" i="0">
                <a:solidFill>
                  <a:srgbClr val="8B1A1A"/>
                </a:solidFill>
                <a:latin typeface="Calibri"/>
              </a:rPr>
              <a:t>Models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02759" y="11384280"/>
            <a:ext cx="13136879" cy="274320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- Logistic Regression: class_weight='balanced', interpretable baseline.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- Custom MLP: 128 -&gt; 64 -&gt; 1, ReLU + Dropout 0.2;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    BCEWithLogitsLoss with pos_weight = neg/pos;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    Adam (lr 1e-3, wd 1e-4); early stopping on val loss.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- CatBoost / XGBoost: gradient-boosted trees,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    grid search on validation PR-AUC.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Evaluation: F1, ROC-AUC, PR-AUC, Brier, $ value (FN $1500 / FP $50).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15727680"/>
            <a:ext cx="20916900" cy="8412480"/>
          </a:xfrm>
          <a:prstGeom prst="roundRect">
            <a:avLst/>
          </a:prstGeom>
          <a:solidFill>
            <a:srgbClr val="FFF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85800" y="15727680"/>
            <a:ext cx="20916900" cy="1005840"/>
          </a:xfrm>
          <a:prstGeom prst="roundRect">
            <a:avLst/>
          </a:prstGeom>
          <a:solidFill>
            <a:srgbClr val="FBD8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l"/>
            <a:r>
              <a:rPr sz="2600" b="1">
                <a:solidFill>
                  <a:srgbClr val="212529"/>
                </a:solidFill>
                <a:latin typeface="Calibri"/>
              </a:rPr>
              <a:t>D.  Results -- Model Comparison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051560" y="16916400"/>
          <a:ext cx="201853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3625"/>
                <a:gridCol w="2883625"/>
                <a:gridCol w="2883625"/>
                <a:gridCol w="2883625"/>
                <a:gridCol w="2883625"/>
                <a:gridCol w="2883625"/>
                <a:gridCol w="288363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Brier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A3C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0.624</a:t>
                      </a:r>
                    </a:p>
                  </a:txBody>
                  <a:tcPr>
                    <a:solidFill>
                      <a:srgbClr val="A3C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A3C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0.642</a:t>
                      </a:r>
                    </a:p>
                  </a:txBody>
                  <a:tcPr>
                    <a:solidFill>
                      <a:srgbClr val="A3C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0.139</a:t>
                      </a:r>
                    </a:p>
                  </a:txBody>
                  <a:tcPr>
                    <a:solidFill>
                      <a:srgbClr val="A3C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0.768</a:t>
                      </a:r>
                    </a:p>
                  </a:txBody>
                  <a:tcPr>
                    <a:solidFill>
                      <a:srgbClr val="A3CC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0.526</a:t>
                      </a:r>
                    </a:p>
                  </a:txBody>
                  <a:tcPr>
                    <a:solidFill>
                      <a:srgbClr val="A3CCB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0.591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0.643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0.725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0.523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0.826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0.789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TextBox 52"/>
          <p:cNvSpPr txBox="1"/>
          <p:nvPr/>
        </p:nvSpPr>
        <p:spPr>
          <a:xfrm>
            <a:off x="1051560" y="19110960"/>
            <a:ext cx="20185380" cy="91440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212529"/>
                </a:solidFill>
                <a:latin typeface="Calibri"/>
              </a:rPr>
              <a:t>CatBoost wins on F1 + calibration.   XGBoost ties on PR-AUC.</a:t>
            </a:r>
          </a:p>
          <a:p>
            <a:pPr algn="l">
              <a:lnSpc>
                <a:spcPct val="110000"/>
              </a:lnSpc>
            </a:pPr>
            <a:r>
              <a:rPr sz="1400" b="0" i="1">
                <a:solidFill>
                  <a:srgbClr val="212529"/>
                </a:solidFill>
                <a:latin typeface="Calibri"/>
              </a:rPr>
              <a:t>MLP does NOT beat logistic regression -- a known result for small one-hot tabular data, and itself a finding.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0208240"/>
            <a:ext cx="20185380" cy="41148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51560" y="24368760"/>
            <a:ext cx="20185380" cy="36576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ctr"/>
            <a:r>
              <a:rPr sz="1200" b="0" i="1">
                <a:solidFill>
                  <a:srgbClr val="6C757D"/>
                </a:solidFill>
                <a:latin typeface="Calibri"/>
              </a:rPr>
              <a:t>ROC and Precision-Recall curves -- ranking quality on test set.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288500" y="15727680"/>
            <a:ext cx="20916900" cy="8412480"/>
          </a:xfrm>
          <a:prstGeom prst="roundRect">
            <a:avLst/>
          </a:prstGeom>
          <a:solidFill>
            <a:srgbClr val="D1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2288500" y="15727680"/>
            <a:ext cx="20916900" cy="1005840"/>
          </a:xfrm>
          <a:prstGeom prst="roundRect">
            <a:avLst/>
          </a:prstGeom>
          <a:solidFill>
            <a:srgbClr val="A3C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l"/>
            <a:r>
              <a:rPr sz="2600" b="1">
                <a:solidFill>
                  <a:srgbClr val="212529"/>
                </a:solidFill>
                <a:latin typeface="Calibri"/>
              </a:rPr>
              <a:t>E.  Results -- Cost-Aware Analysis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654260" y="16870680"/>
            <a:ext cx="20185380" cy="1371600"/>
          </a:xfrm>
          <a:prstGeom prst="round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~$370K  net value per 1,000 customers</a:t>
            </a:r>
          </a:p>
          <a:p>
            <a:pPr algn="ctr"/>
            <a:r>
              <a:rPr sz="1800" i="1">
                <a:solidFill>
                  <a:srgbClr val="FFFFFF"/>
                </a:solidFill>
              </a:rPr>
              <a:t>when the decision threshold is set right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/>
        </p:nvGraphicFramePr>
        <p:xfrm>
          <a:off x="22654260" y="18425160"/>
          <a:ext cx="201853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8460"/>
                <a:gridCol w="6728460"/>
                <a:gridCol w="672846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Optimal threshold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Net value / 1,000 customers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$371,043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$370,616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$370,142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MLP (custom NN)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>
                          <a:solidFill>
                            <a:srgbClr val="212529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12529"/>
                          </a:solidFill>
                          <a:latin typeface="Calibri"/>
                        </a:rPr>
                        <a:t>$368,910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22654260" y="20528280"/>
            <a:ext cx="20185380" cy="50292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8B1A1A"/>
                </a:solidFill>
                <a:latin typeface="Calibri"/>
              </a:rPr>
              <a:t>Under a 20% retention-team capacity constraint, CatBoost delivers $175,687 / 1,000 at threshold 0.54.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54260" y="21122639"/>
            <a:ext cx="12514935" cy="3246120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35774757" y="21122639"/>
            <a:ext cx="706488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939349" y="21214080"/>
            <a:ext cx="6735698" cy="315468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Counterfactual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Highest-risk customer: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predicted churn = 0.93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Switch  InternetService: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Fiber optic -&gt; No internet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-&gt;  predicted churn = 0.82</a:t>
            </a: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212529"/>
                </a:solidFill>
                <a:latin typeface="Calibri"/>
              </a:rPr>
              <a:t>Model -&gt; action.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5800" y="24323040"/>
            <a:ext cx="20916900" cy="6858000"/>
          </a:xfrm>
          <a:prstGeom prst="roundRect">
            <a:avLst/>
          </a:prstGeom>
          <a:solidFill>
            <a:srgbClr val="E7D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85800" y="24323040"/>
            <a:ext cx="20916900" cy="1005840"/>
          </a:xfrm>
          <a:prstGeom prst="roundRect">
            <a:avLst/>
          </a:prstGeom>
          <a:solidFill>
            <a:srgbClr val="C2B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l"/>
            <a:r>
              <a:rPr sz="2600" b="1">
                <a:solidFill>
                  <a:srgbClr val="212529"/>
                </a:solidFill>
                <a:latin typeface="Calibri"/>
              </a:rPr>
              <a:t>F.  What Drives Churn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25511760"/>
            <a:ext cx="11101959" cy="4754880"/>
          </a:xfrm>
          <a:prstGeom prst="rect">
            <a:avLst/>
          </a:prstGeom>
        </p:spPr>
      </p:pic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12759080" y="25511760"/>
          <a:ext cx="847785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929"/>
                <a:gridCol w="423893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Importance</a:t>
                      </a:r>
                    </a:p>
                  </a:txBody>
                  <a:tcPr>
                    <a:solidFill>
                      <a:srgbClr val="CC000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tenure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21.4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Contract = Two year</a:t>
                      </a:r>
                    </a:p>
                  </a:txBody>
                  <a:tcPr>
                    <a:solidFill>
                      <a:srgbClr val="C2B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>
                    <a:solidFill>
                      <a:srgbClr val="C2B0E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InternetService = Fiber optic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TotalCharges</a:t>
                      </a:r>
                    </a:p>
                  </a:txBody>
                  <a:tcPr>
                    <a:solidFill>
                      <a:srgbClr val="C2B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7.6</a:t>
                      </a:r>
                    </a:p>
                  </a:txBody>
                  <a:tcPr>
                    <a:solidFill>
                      <a:srgbClr val="C2B0E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MonthlyCharges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Contract = One year</a:t>
                      </a:r>
                    </a:p>
                  </a:txBody>
                  <a:tcPr>
                    <a:solidFill>
                      <a:srgbClr val="C2B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4.8</a:t>
                      </a:r>
                    </a:p>
                  </a:txBody>
                  <a:tcPr>
                    <a:solidFill>
                      <a:srgbClr val="C2B0E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PaymentMethod = Electronic check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12529"/>
                          </a:solidFill>
                          <a:latin typeface="Calibri"/>
                        </a:rPr>
                        <a:t>4.3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TextBox 67"/>
          <p:cNvSpPr txBox="1"/>
          <p:nvPr/>
        </p:nvSpPr>
        <p:spPr>
          <a:xfrm>
            <a:off x="12759080" y="28757880"/>
            <a:ext cx="8477859" cy="146304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212529"/>
                </a:solidFill>
                <a:latin typeface="Calibri"/>
              </a:rPr>
              <a:t>These match the EDA findings and align with industry intuition: short tenure, no long-term contract, fiber, and electronic-check payments are the strongest churn signals.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288500" y="24323040"/>
            <a:ext cx="20916900" cy="6858000"/>
          </a:xfrm>
          <a:prstGeom prst="roundRect">
            <a:avLst/>
          </a:prstGeom>
          <a:solidFill>
            <a:srgbClr val="FFE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22288500" y="24323040"/>
            <a:ext cx="20916900" cy="1005840"/>
          </a:xfrm>
          <a:prstGeom prst="roundRect">
            <a:avLst/>
          </a:prstGeom>
          <a:solidFill>
            <a:srgbClr val="F5C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 rIns="80000"/>
          <a:lstStyle/>
          <a:p>
            <a:pPr algn="l"/>
            <a:r>
              <a:rPr sz="2600" b="1">
                <a:solidFill>
                  <a:srgbClr val="212529"/>
                </a:solidFill>
                <a:latin typeface="Calibri"/>
              </a:rPr>
              <a:t>G.  Conclusions &amp; Next Steps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654260" y="25511760"/>
            <a:ext cx="20185380" cy="45720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/>
            <a:r>
              <a:rPr sz="2000" b="1" i="0">
                <a:solidFill>
                  <a:srgbClr val="8B1A1A"/>
                </a:solidFill>
                <a:latin typeface="Calibri"/>
              </a:rPr>
              <a:t>Findings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654260" y="26014680"/>
            <a:ext cx="20185380" cy="365760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1.  CatBoost is the strongest classifier (F1 0.624, ROC-AUC 0.841, lowest Brier 0.139).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2.  Custom MLP did NOT beat logistic regression -- nonlinearity adds little on small one-hot tabular data.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3.  Cost-aware threshold tuning is the dominant lever -- all 4 models recover ~$370K per 1,000 customers; choice of architecture changes this by &lt; 1%.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4.  Counterfactual analysis turns probabilities into specific retention actions (e.g., contract upgrade, internet downgrade).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654260" y="29763720"/>
            <a:ext cx="20185380" cy="45720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/>
            <a:r>
              <a:rPr sz="2000" b="1" i="0">
                <a:solidFill>
                  <a:srgbClr val="8B1A1A"/>
                </a:solidFill>
                <a:latin typeface="Calibri"/>
              </a:rPr>
              <a:t>Next steps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654260" y="30266640"/>
            <a:ext cx="20185380" cy="137160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Stacking ensemble  -  Cost-sensitive loss directly in MLP training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12529"/>
                </a:solidFill>
                <a:latin typeface="Calibri"/>
              </a:rPr>
              <a:t>Monthly recalibration  -  Live A/B test of the threshold in a retention pipeline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5800" y="31272480"/>
            <a:ext cx="42519600" cy="1417320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6C75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0120" y="31363920"/>
            <a:ext cx="41970960" cy="41148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alibri"/>
              </a:rPr>
              <a:t>References &amp; Acknowledgements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120" y="31775400"/>
            <a:ext cx="41970960" cy="914400"/>
          </a:xfrm>
          <a:prstGeom prst="rect">
            <a:avLst/>
          </a:prstGeom>
          <a:noFill/>
        </p:spPr>
        <p:txBody>
          <a:bodyPr wrap="square" lIns="50000" rIns="50000" tIns="40000" bIns="40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[1] Verbeke, W. et al. (2012). New insights into churn prediction in the telecommunication sector. Eur. J. Op. Res., 218(1), 211-229.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[2] Prokhorenkova, L. et al. (2018). CatBoost: unbiased boosting with categorical features. NeurIPS.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[3] Chen, T. &amp; Guestrin, C. (2016). XGBoost: a scalable tree-boosting system. KDD.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212529"/>
                </a:solidFill>
                <a:latin typeface="Calibri"/>
              </a:rPr>
              <a:t>Dataset: IBM Telco Customer Churn (Kaggle: blastchar/telco-customer-churn).   Acknowledgements: Dr. Edgar Lobaton (instructor, ECE 525, NC State University).</a:t>
            </a:r>
          </a:p>
        </p:txBody>
      </p:sp>
    </p:spTree>
    <p:extLst>
      <p:ext uri="{BB962C8B-B14F-4D97-AF65-F5344CB8AC3E}">
        <p14:creationId xmlns:p14="http://schemas.microsoft.com/office/powerpoint/2010/main" val="499407632"/>
      </p:ext>
    </p:extLst>
  </p:cSld>
  <p:clrMapOvr>
    <a:masterClrMapping/>
  </p:clrMapOvr>
</p:sld>
</file>

<file path=ppt/theme/theme1.xml><?xml version="1.0" encoding="utf-8"?>
<a:theme xmlns:a="http://schemas.openxmlformats.org/drawingml/2006/main" name="NCState-Presentation-36x48">
  <a:themeElements>
    <a:clrScheme name="NC State Colors">
      <a:dk1>
        <a:srgbClr val="1A1718"/>
      </a:dk1>
      <a:lt1>
        <a:sysClr val="window" lastClr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B68B94EE-C93F-44B0-B0EA-331121112AF1}" vid="{52936D81-9774-46E2-A1BE-EFCE3581B9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Poster Template</Template>
  <TotalTime>206</TotalTime>
  <Words>1021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NCState-Presentation-36x48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 Vathsa Kashyap</dc:creator>
  <cp:lastModifiedBy>Sree Vathsa Kashyap</cp:lastModifiedBy>
  <cp:revision>3</cp:revision>
  <dcterms:created xsi:type="dcterms:W3CDTF">2026-04-29T18:04:57Z</dcterms:created>
  <dcterms:modified xsi:type="dcterms:W3CDTF">2026-04-29T21:31:41Z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